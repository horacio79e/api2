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9144000"/>
  <p:embeddedFontLst>
    <p:embeddedFont>
      <p:font typeface="Robo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ixQB2qAgTMaiB1b/6XEkyMqEwC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regular.fntdata"/><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Roboto-italic.fntdata"/><Relationship Id="rId10" Type="http://schemas.openxmlformats.org/officeDocument/2006/relationships/slide" Target="slides/slide6.xml"/><Relationship Id="rId32" Type="http://schemas.openxmlformats.org/officeDocument/2006/relationships/font" Target="fonts/Roboto-bold.fntdata"/><Relationship Id="rId13" Type="http://schemas.openxmlformats.org/officeDocument/2006/relationships/slide" Target="slides/slide9.xml"/><Relationship Id="rId35" Type="http://customschemas.google.com/relationships/presentationmetadata" Target="metadata"/><Relationship Id="rId12" Type="http://schemas.openxmlformats.org/officeDocument/2006/relationships/slide" Target="slides/slide8.xml"/><Relationship Id="rId34" Type="http://schemas.openxmlformats.org/officeDocument/2006/relationships/font" Target="fonts/Roboto-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00" name="Google Shape;10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58750" rtl="0" algn="l">
              <a:spcBef>
                <a:spcPts val="0"/>
              </a:spcBef>
              <a:spcAft>
                <a:spcPts val="0"/>
              </a:spcAft>
              <a:buClr>
                <a:schemeClr val="dk1"/>
              </a:buClr>
              <a:buSzPts val="1200"/>
              <a:buFont typeface="Calibri"/>
              <a:buNone/>
            </a:pPr>
            <a:r>
              <a:rPr b="1" lang="es-ES"/>
              <a:t>Comentarios coach: </a:t>
            </a:r>
            <a:endParaRPr/>
          </a:p>
          <a:p>
            <a:pPr indent="0" lvl="0" marL="158750" rtl="0" algn="l">
              <a:spcBef>
                <a:spcPts val="0"/>
              </a:spcBef>
              <a:spcAft>
                <a:spcPts val="0"/>
              </a:spcAft>
              <a:buClr>
                <a:srgbClr val="000000"/>
              </a:buClr>
              <a:buSzPts val="1100"/>
              <a:buFont typeface="Arial"/>
              <a:buNone/>
            </a:pPr>
            <a:r>
              <a:rPr b="0" i="1" lang="es-ES" sz="1100" u="none" cap="none" strike="noStrike">
                <a:solidFill>
                  <a:srgbClr val="000000"/>
                </a:solidFill>
                <a:latin typeface="Arial"/>
                <a:ea typeface="Arial"/>
                <a:cs typeface="Arial"/>
                <a:sym typeface="Arial"/>
              </a:rPr>
              <a:t>El coach dará algunos minutos a los estudiantes para que realicen el ejercicio de forma individual para luego hacer una discusión con base a las siguientes preguntas: </a:t>
            </a:r>
            <a:endParaRPr i="1"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¿Cómo te sentiste en ese ejercicio?, fue fácil?</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¿Qué fue lo más fácil y lo más difícil?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¿Sientes que la lectura sin estos conectores así tiene sentido? ¿O hubiese hecho otro cambio? ¿Cuál sería?</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 respondiste correctamente a este ejercicio correctamente o tus respuestas fueron bastante aproximadas quiere decir que estás haciendo una buena interpretación del texto y eres capaz de predecir la idea principal del texto (acerca de las predicciones hablaremos más adelante)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Después de hacer estos ejercicios hemos visto no solo la importancia que tienen los organizadores de información dentro del texto para la comprensión lectora, sino también la importancia que tiene conocer/ampliar el vocabulario, el poder activar los conocimientos previos (bien sea porque leímos algo en otra oportunidad o que alguien nos contó), y por supuesto el cómo nos puede afectar el espacio que utilizamos para la lectura.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 estos elementos no están 100% consolidado, puede afectar el significado de lo que estábamos leyendo y puede provocar que malinterpretemos el contenido. </a:t>
            </a:r>
            <a:endParaRPr sz="1100">
              <a:latin typeface="Arial"/>
              <a:ea typeface="Arial"/>
              <a:cs typeface="Arial"/>
              <a:sym typeface="Arial"/>
            </a:endParaRPr>
          </a:p>
          <a:p>
            <a:pPr indent="0" lvl="0" marL="158750" rtl="0" algn="l">
              <a:spcBef>
                <a:spcPts val="0"/>
              </a:spcBef>
              <a:spcAft>
                <a:spcPts val="0"/>
              </a:spcAft>
              <a:buClr>
                <a:schemeClr val="dk1"/>
              </a:buClr>
              <a:buSzPts val="1100"/>
              <a:buFont typeface="Calibri"/>
              <a:buNone/>
            </a:pPr>
            <a:r>
              <a:t/>
            </a:r>
            <a:endParaRPr sz="1100">
              <a:latin typeface="Arial"/>
              <a:ea typeface="Arial"/>
              <a:cs typeface="Arial"/>
              <a:sym typeface="Arial"/>
            </a:endParaRPr>
          </a:p>
          <a:p>
            <a:pPr indent="0" lvl="0" marL="158750" rtl="0" algn="l">
              <a:spcBef>
                <a:spcPts val="0"/>
              </a:spcBef>
              <a:spcAft>
                <a:spcPts val="0"/>
              </a:spcAft>
              <a:buClr>
                <a:schemeClr val="dk1"/>
              </a:buClr>
              <a:buSzPts val="1200"/>
              <a:buFont typeface="Calibri"/>
              <a:buNone/>
            </a:pPr>
            <a:r>
              <a:t/>
            </a:r>
            <a:endParaRPr b="1"/>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58750" rtl="0" algn="l">
              <a:spcBef>
                <a:spcPts val="0"/>
              </a:spcBef>
              <a:spcAft>
                <a:spcPts val="0"/>
              </a:spcAft>
              <a:buClr>
                <a:schemeClr val="dk1"/>
              </a:buClr>
              <a:buSzPts val="1200"/>
              <a:buFont typeface="Calibri"/>
              <a:buNone/>
            </a:pPr>
            <a:r>
              <a:rPr b="1" lang="es-ES"/>
              <a:t>Comentarios coach: </a:t>
            </a:r>
            <a:endParaRPr/>
          </a:p>
          <a:p>
            <a:pPr indent="0" lvl="0" marL="158750" rtl="0" algn="l">
              <a:spcBef>
                <a:spcPts val="0"/>
              </a:spcBef>
              <a:spcAft>
                <a:spcPts val="0"/>
              </a:spcAft>
              <a:buClr>
                <a:srgbClr val="000000"/>
              </a:buClr>
              <a:buSzPts val="1100"/>
              <a:buFont typeface="Arial"/>
              <a:buNone/>
            </a:pPr>
            <a:r>
              <a:rPr b="0" i="1" lang="es-ES" sz="1100" u="none" cap="none" strike="noStrike">
                <a:solidFill>
                  <a:srgbClr val="000000"/>
                </a:solidFill>
                <a:latin typeface="Arial"/>
                <a:ea typeface="Arial"/>
                <a:cs typeface="Arial"/>
                <a:sym typeface="Arial"/>
              </a:rPr>
              <a:t>El coach dará algunos minutos a los estudiantes para que realicen el ejercicio de forma individual para luego hacer una discusión con base a las siguientes preguntas: </a:t>
            </a:r>
            <a:endParaRPr i="1"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¿Cómo te sentiste en ese ejercicio?, fue fácil?</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¿Qué fue lo más fácil y lo más difícil?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¿Sientes que la lectura sin estos conectores así tiene sentido? ¿O hubiese hecho otro cambio? ¿Cuál sería?</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 respondiste correctamente a este ejercicio correctamente o tus respuestas fueron bastante aproximadas quiere decir que estás haciendo una buena interpretación del texto y eres capaz de predecir la idea principal del texto (acerca de las predicciones hablaremos más adelante)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Después de hacer estos ejercicios hemos visto no solo la importancia que tienen los organizadores de información dentro del texto para la comprensión lectora, sino también la importancia que tiene conocer/ampliar el vocabulario, el poder activar los conocimientos previos (bien sea porque leímos algo en otra oportunidad o que alguien nos contó), y por supuesto el cómo nos puede afectar el espacio que utilizamos para la lectura.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 estos elementos no están 100% consolidado, puede afectar el significado de lo que estábamos leyendo y puede provocar que malinterpretemos el contenido. </a:t>
            </a:r>
            <a:endParaRPr sz="1100">
              <a:latin typeface="Arial"/>
              <a:ea typeface="Arial"/>
              <a:cs typeface="Arial"/>
              <a:sym typeface="Arial"/>
            </a:endParaRPr>
          </a:p>
          <a:p>
            <a:pPr indent="0" lvl="0" marL="158750" rtl="0" algn="l">
              <a:spcBef>
                <a:spcPts val="0"/>
              </a:spcBef>
              <a:spcAft>
                <a:spcPts val="0"/>
              </a:spcAft>
              <a:buClr>
                <a:schemeClr val="dk1"/>
              </a:buClr>
              <a:buSzPts val="1100"/>
              <a:buFont typeface="Calibri"/>
              <a:buNone/>
            </a:pPr>
            <a:r>
              <a:t/>
            </a:r>
            <a:endParaRPr sz="1100">
              <a:latin typeface="Arial"/>
              <a:ea typeface="Arial"/>
              <a:cs typeface="Arial"/>
              <a:sym typeface="Arial"/>
            </a:endParaRPr>
          </a:p>
          <a:p>
            <a:pPr indent="0" lvl="0" marL="158750" rtl="0" algn="l">
              <a:spcBef>
                <a:spcPts val="0"/>
              </a:spcBef>
              <a:spcAft>
                <a:spcPts val="0"/>
              </a:spcAft>
              <a:buClr>
                <a:schemeClr val="dk1"/>
              </a:buClr>
              <a:buSzPts val="1200"/>
              <a:buFont typeface="Calibri"/>
              <a:buNone/>
            </a:pPr>
            <a:r>
              <a:t/>
            </a:r>
            <a:endParaRPr b="1"/>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58750" rtl="0" algn="l">
              <a:spcBef>
                <a:spcPts val="0"/>
              </a:spcBef>
              <a:spcAft>
                <a:spcPts val="0"/>
              </a:spcAft>
              <a:buClr>
                <a:schemeClr val="dk1"/>
              </a:buClr>
              <a:buSzPts val="1200"/>
              <a:buFont typeface="Calibri"/>
              <a:buNone/>
            </a:pPr>
            <a:r>
              <a:rPr b="1" lang="es-ES"/>
              <a:t>Comentarios coach: </a:t>
            </a:r>
            <a:endParaRPr/>
          </a:p>
          <a:p>
            <a:pPr indent="0" lvl="0" marL="158750" rtl="0" algn="l">
              <a:spcBef>
                <a:spcPts val="0"/>
              </a:spcBef>
              <a:spcAft>
                <a:spcPts val="0"/>
              </a:spcAft>
              <a:buClr>
                <a:srgbClr val="000000"/>
              </a:buClr>
              <a:buSzPts val="1100"/>
              <a:buFont typeface="Arial"/>
              <a:buNone/>
            </a:pPr>
            <a:r>
              <a:rPr b="0" i="1" lang="es-ES" sz="1100" u="none" cap="none" strike="noStrike">
                <a:solidFill>
                  <a:srgbClr val="000000"/>
                </a:solidFill>
                <a:latin typeface="Arial"/>
                <a:ea typeface="Arial"/>
                <a:cs typeface="Arial"/>
                <a:sym typeface="Arial"/>
              </a:rPr>
              <a:t>El coach dará algunos minutos a los estudiantes para que realicen el ejercicio de forma individual para luego hacer una discusión con base a las siguientes preguntas: </a:t>
            </a:r>
            <a:endParaRPr i="1"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¿Cómo te sentiste en ese ejercicio?, fue fácil?</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¿Qué fue lo más fácil y lo más difícil?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¿Sientes que la lectura sin estos conectores así tiene sentido? ¿O hubiese hecho otro cambio? ¿Cuál sería?</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 respondiste correctamente a este ejercicio correctamente o tus respuestas fueron bastante aproximadas quiere decir que estás haciendo una buena interpretación del texto y eres capaz de predecir la idea principal del texto (acerca de las predicciones hablaremos más adelante)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Después de hacer estos ejercicios hemos visto no solo la importancia que tienen los organizadores de información dentro del texto para la comprensión lectora, sino también la importancia que tiene conocer/ampliar el vocabulario, el poder activar los conocimientos previos (bien sea porque leímos algo en otra oportunidad o que alguien nos contó), y por supuesto el cómo nos puede afectar el espacio que utilizamos para la lectura.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 estos elementos no están 100% consolidado, puede afectar el significado de lo que estábamos leyendo y puede provocar que malinterpretemos el contenido. </a:t>
            </a:r>
            <a:endParaRPr sz="1100">
              <a:latin typeface="Arial"/>
              <a:ea typeface="Arial"/>
              <a:cs typeface="Arial"/>
              <a:sym typeface="Arial"/>
            </a:endParaRPr>
          </a:p>
          <a:p>
            <a:pPr indent="0" lvl="0" marL="158750" rtl="0" algn="l">
              <a:spcBef>
                <a:spcPts val="0"/>
              </a:spcBef>
              <a:spcAft>
                <a:spcPts val="0"/>
              </a:spcAft>
              <a:buClr>
                <a:schemeClr val="dk1"/>
              </a:buClr>
              <a:buSzPts val="1100"/>
              <a:buFont typeface="Calibri"/>
              <a:buNone/>
            </a:pPr>
            <a:r>
              <a:t/>
            </a:r>
            <a:endParaRPr sz="1100">
              <a:latin typeface="Arial"/>
              <a:ea typeface="Arial"/>
              <a:cs typeface="Arial"/>
              <a:sym typeface="Arial"/>
            </a:endParaRPr>
          </a:p>
          <a:p>
            <a:pPr indent="0" lvl="0" marL="158750" rtl="0" algn="l">
              <a:spcBef>
                <a:spcPts val="0"/>
              </a:spcBef>
              <a:spcAft>
                <a:spcPts val="0"/>
              </a:spcAft>
              <a:buClr>
                <a:schemeClr val="dk1"/>
              </a:buClr>
              <a:buSzPts val="1200"/>
              <a:buFont typeface="Calibri"/>
              <a:buNone/>
            </a:pPr>
            <a:r>
              <a:t/>
            </a:r>
            <a:endParaRP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58750" rtl="0" algn="l">
              <a:spcBef>
                <a:spcPts val="0"/>
              </a:spcBef>
              <a:spcAft>
                <a:spcPts val="0"/>
              </a:spcAft>
              <a:buClr>
                <a:schemeClr val="dk1"/>
              </a:buClr>
              <a:buSzPts val="1200"/>
              <a:buFont typeface="Calibri"/>
              <a:buNone/>
            </a:pPr>
            <a:r>
              <a:rPr b="1" lang="es-ES"/>
              <a:t>Comentarios coach: </a:t>
            </a:r>
            <a:endParaRPr/>
          </a:p>
          <a:p>
            <a:pPr indent="0" lvl="0" marL="158750" rtl="0" algn="l">
              <a:spcBef>
                <a:spcPts val="0"/>
              </a:spcBef>
              <a:spcAft>
                <a:spcPts val="0"/>
              </a:spcAft>
              <a:buClr>
                <a:srgbClr val="000000"/>
              </a:buClr>
              <a:buSzPts val="1100"/>
              <a:buFont typeface="Arial"/>
              <a:buNone/>
            </a:pPr>
            <a:r>
              <a:rPr b="0" i="1" lang="es-ES" sz="1100" u="none" cap="none" strike="noStrike">
                <a:solidFill>
                  <a:srgbClr val="000000"/>
                </a:solidFill>
                <a:latin typeface="Arial"/>
                <a:ea typeface="Arial"/>
                <a:cs typeface="Arial"/>
                <a:sym typeface="Arial"/>
              </a:rPr>
              <a:t>El coach dará algunos minutos a los estudiantes para que realicen el ejercicio de forma individual para luego hacer una discusión con base a las siguientes preguntas: </a:t>
            </a:r>
            <a:endParaRPr i="1"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¿Cómo te sentiste en ese ejercicio?, fue fácil?</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¿Qué fue lo más fácil y lo más difícil?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¿Sientes que la lectura sin estos conectores así tiene sentido? ¿O hubiese hecho otro cambio? ¿Cuál sería?</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 respondiste correctamente a este ejercicio correctamente o tus respuestas fueron bastante aproximadas quiere decir que estás haciendo una buena interpretación del texto y eres capaz de predecir la idea principal del texto (acerca de las predicciones hablaremos más adelante)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Después de hacer estos ejercicios hemos visto no solo la importancia que tienen los organizadores de información dentro del texto para la comprensión lectora, sino también la importancia que tiene conocer/ampliar el vocabulario, el poder activar los conocimientos previos (bien sea porque leímos algo en otra oportunidad o que alguien nos contó), y por supuesto el cómo nos puede afectar el espacio que utilizamos para la lectura.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 estos elementos no están 100% consolidado, puede afectar el significado de lo que estábamos leyendo y puede provocar que malinterpretemos el contenido. </a:t>
            </a:r>
            <a:endParaRPr sz="1100">
              <a:latin typeface="Arial"/>
              <a:ea typeface="Arial"/>
              <a:cs typeface="Arial"/>
              <a:sym typeface="Arial"/>
            </a:endParaRPr>
          </a:p>
          <a:p>
            <a:pPr indent="0" lvl="0" marL="158750" rtl="0" algn="l">
              <a:spcBef>
                <a:spcPts val="0"/>
              </a:spcBef>
              <a:spcAft>
                <a:spcPts val="0"/>
              </a:spcAft>
              <a:buClr>
                <a:schemeClr val="dk1"/>
              </a:buClr>
              <a:buSzPts val="1100"/>
              <a:buFont typeface="Calibri"/>
              <a:buNone/>
            </a:pPr>
            <a:r>
              <a:t/>
            </a:r>
            <a:endParaRPr sz="1100">
              <a:latin typeface="Arial"/>
              <a:ea typeface="Arial"/>
              <a:cs typeface="Arial"/>
              <a:sym typeface="Arial"/>
            </a:endParaRPr>
          </a:p>
          <a:p>
            <a:pPr indent="0" lvl="0" marL="158750" rtl="0" algn="l">
              <a:spcBef>
                <a:spcPts val="0"/>
              </a:spcBef>
              <a:spcAft>
                <a:spcPts val="0"/>
              </a:spcAft>
              <a:buClr>
                <a:schemeClr val="dk1"/>
              </a:buClr>
              <a:buSzPts val="1200"/>
              <a:buFont typeface="Calibri"/>
              <a:buNone/>
            </a:pPr>
            <a:r>
              <a:t/>
            </a:r>
            <a:endParaRPr b="1"/>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58750" rtl="0" algn="l">
              <a:spcBef>
                <a:spcPts val="0"/>
              </a:spcBef>
              <a:spcAft>
                <a:spcPts val="0"/>
              </a:spcAft>
              <a:buClr>
                <a:schemeClr val="dk1"/>
              </a:buClr>
              <a:buSzPts val="1200"/>
              <a:buFont typeface="Calibri"/>
              <a:buNone/>
            </a:pPr>
            <a:r>
              <a:rPr b="1" lang="es-ES"/>
              <a:t>Comentarios coach: </a:t>
            </a:r>
            <a:endParaRPr/>
          </a:p>
          <a:p>
            <a:pPr indent="0" lvl="0" marL="158750" rtl="0" algn="l">
              <a:spcBef>
                <a:spcPts val="0"/>
              </a:spcBef>
              <a:spcAft>
                <a:spcPts val="0"/>
              </a:spcAft>
              <a:buClr>
                <a:srgbClr val="000000"/>
              </a:buClr>
              <a:buSzPts val="1100"/>
              <a:buFont typeface="Arial"/>
              <a:buNone/>
            </a:pPr>
            <a:r>
              <a:rPr b="0" i="1" lang="es-ES" sz="1100" u="none" cap="none" strike="noStrike">
                <a:solidFill>
                  <a:srgbClr val="000000"/>
                </a:solidFill>
                <a:latin typeface="Arial"/>
                <a:ea typeface="Arial"/>
                <a:cs typeface="Arial"/>
                <a:sym typeface="Arial"/>
              </a:rPr>
              <a:t>El coach dará algunos minutos a los estudiantes para que realicen el ejercicio de forma individual para luego hacer una discusión con base a las siguientes preguntas: </a:t>
            </a:r>
            <a:endParaRPr i="1"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¿Cómo te sentiste en ese ejercicio?, fue fácil?</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¿Qué fue lo más fácil y lo más difícil?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¿Sientes que la lectura sin estos conectores así tiene sentido? ¿O hubiese hecho otro cambio? ¿Cuál sería?</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 respondiste correctamente a este ejercicio correctamente o tus respuestas fueron bastante aproximadas quiere decir que estás haciendo una buena interpretación del texto y eres capaz de predecir la idea principal del texto (acerca de las predicciones hablaremos más adelante)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Después de hacer estos ejercicios hemos visto no solo la importancia que tienen los organizadores de información dentro del texto para la comprensión lectora, sino también la importancia que tiene conocer/ampliar el vocabulario, el poder activar los conocimientos previos (bien sea porque leímos algo en otra oportunidad o que alguien nos contó), y por supuesto el cómo nos puede afectar el espacio que utilizamos para la lectura.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 estos elementos no están 100% consolidado, puede afectar el significado de lo que estábamos leyendo y puede provocar que malinterpretemos el contenido. </a:t>
            </a:r>
            <a:endParaRPr sz="1100">
              <a:latin typeface="Arial"/>
              <a:ea typeface="Arial"/>
              <a:cs typeface="Arial"/>
              <a:sym typeface="Arial"/>
            </a:endParaRPr>
          </a:p>
          <a:p>
            <a:pPr indent="0" lvl="0" marL="158750" rtl="0" algn="l">
              <a:spcBef>
                <a:spcPts val="0"/>
              </a:spcBef>
              <a:spcAft>
                <a:spcPts val="0"/>
              </a:spcAft>
              <a:buClr>
                <a:schemeClr val="dk1"/>
              </a:buClr>
              <a:buSzPts val="1100"/>
              <a:buFont typeface="Calibri"/>
              <a:buNone/>
            </a:pPr>
            <a:r>
              <a:t/>
            </a:r>
            <a:endParaRPr sz="1100">
              <a:latin typeface="Arial"/>
              <a:ea typeface="Arial"/>
              <a:cs typeface="Arial"/>
              <a:sym typeface="Arial"/>
            </a:endParaRPr>
          </a:p>
          <a:p>
            <a:pPr indent="0" lvl="0" marL="158750" rtl="0" algn="l">
              <a:spcBef>
                <a:spcPts val="0"/>
              </a:spcBef>
              <a:spcAft>
                <a:spcPts val="0"/>
              </a:spcAft>
              <a:buClr>
                <a:schemeClr val="dk1"/>
              </a:buClr>
              <a:buSzPts val="1200"/>
              <a:buFont typeface="Calibri"/>
              <a:buNone/>
            </a:pPr>
            <a:r>
              <a:t/>
            </a:r>
            <a:endParaRPr b="1"/>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58750" rtl="0" algn="l">
              <a:spcBef>
                <a:spcPts val="0"/>
              </a:spcBef>
              <a:spcAft>
                <a:spcPts val="0"/>
              </a:spcAft>
              <a:buClr>
                <a:schemeClr val="dk1"/>
              </a:buClr>
              <a:buSzPts val="1200"/>
              <a:buFont typeface="Calibri"/>
              <a:buNone/>
            </a:pPr>
            <a:r>
              <a:rPr b="1" lang="es-ES"/>
              <a:t>Comentarios coach: </a:t>
            </a:r>
            <a:endParaRPr/>
          </a:p>
          <a:p>
            <a:pPr indent="0" lvl="0" marL="158750" rtl="0" algn="l">
              <a:spcBef>
                <a:spcPts val="0"/>
              </a:spcBef>
              <a:spcAft>
                <a:spcPts val="0"/>
              </a:spcAft>
              <a:buClr>
                <a:srgbClr val="000000"/>
              </a:buClr>
              <a:buSzPts val="1100"/>
              <a:buFont typeface="Arial"/>
              <a:buNone/>
            </a:pPr>
            <a:r>
              <a:rPr b="0" i="1" lang="es-ES" sz="1100" u="none" cap="none" strike="noStrike">
                <a:solidFill>
                  <a:srgbClr val="000000"/>
                </a:solidFill>
                <a:latin typeface="Arial"/>
                <a:ea typeface="Arial"/>
                <a:cs typeface="Arial"/>
                <a:sym typeface="Arial"/>
              </a:rPr>
              <a:t>El coach dará algunos minutos a los estudiantes para que realicen el ejercicio de forma individual para luego hacer una discusión con base a las siguientes preguntas: </a:t>
            </a:r>
            <a:endParaRPr i="1"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¿Cómo te sentiste en ese ejercicio?, fue fácil?</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¿Qué fue lo más fácil y lo más difícil?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¿Sientes que la lectura sin estos conectores así tiene sentido? ¿O hubiese hecho otro cambio? ¿Cuál sería?</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 respondiste correctamente a este ejercicio correctamente o tus respuestas fueron bastante aproximadas quiere decir que estás haciendo una buena interpretación del texto y eres capaz de predecir la idea principal del texto (acerca de las predicciones hablaremos más adelante)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Después de hacer estos ejercicios hemos visto no solo la importancia que tienen los organizadores de información dentro del texto para la comprensión lectora, sino también la importancia que tiene conocer/ampliar el vocabulario, el poder activar los conocimientos previos (bien sea porque leímos algo en otra oportunidad o que alguien nos contó), y por supuesto el cómo nos puede afectar el espacio que utilizamos para la lectura.  </a:t>
            </a:r>
            <a:endParaRPr sz="1100">
              <a:latin typeface="Arial"/>
              <a:ea typeface="Arial"/>
              <a:cs typeface="Arial"/>
              <a:sym typeface="Arial"/>
            </a:endParaRPr>
          </a:p>
          <a:p>
            <a:pPr indent="0" lvl="0" marL="158750" rtl="0" algn="l">
              <a:spcBef>
                <a:spcPts val="0"/>
              </a:spcBef>
              <a:spcAft>
                <a:spcPts val="0"/>
              </a:spcAft>
              <a:buClr>
                <a:srgbClr val="000000"/>
              </a:buClr>
              <a:buSzPts val="1100"/>
              <a:buFont typeface="Arial"/>
              <a:buNone/>
            </a:pPr>
            <a:r>
              <a:rPr b="0" i="0" lang="es-ES" sz="1100" u="none" cap="none" strike="noStrike">
                <a:solidFill>
                  <a:srgbClr val="000000"/>
                </a:solidFill>
                <a:latin typeface="Arial"/>
                <a:ea typeface="Arial"/>
                <a:cs typeface="Arial"/>
                <a:sym typeface="Arial"/>
              </a:rPr>
              <a:t>Si estos elementos no están 100% consolidado, puede afectar el significado de lo que estábamos leyendo y puede provocar que malinterpretemos el contenido. </a:t>
            </a:r>
            <a:endParaRPr sz="1100">
              <a:latin typeface="Arial"/>
              <a:ea typeface="Arial"/>
              <a:cs typeface="Arial"/>
              <a:sym typeface="Arial"/>
            </a:endParaRPr>
          </a:p>
          <a:p>
            <a:pPr indent="0" lvl="0" marL="158750" rtl="0" algn="l">
              <a:spcBef>
                <a:spcPts val="0"/>
              </a:spcBef>
              <a:spcAft>
                <a:spcPts val="0"/>
              </a:spcAft>
              <a:buClr>
                <a:schemeClr val="dk1"/>
              </a:buClr>
              <a:buSzPts val="1100"/>
              <a:buFont typeface="Calibri"/>
              <a:buNone/>
            </a:pPr>
            <a:r>
              <a:t/>
            </a:r>
            <a:endParaRPr sz="1100">
              <a:latin typeface="Arial"/>
              <a:ea typeface="Arial"/>
              <a:cs typeface="Arial"/>
              <a:sym typeface="Arial"/>
            </a:endParaRPr>
          </a:p>
          <a:p>
            <a:pPr indent="0" lvl="0" marL="158750" rtl="0" algn="l">
              <a:spcBef>
                <a:spcPts val="0"/>
              </a:spcBef>
              <a:spcAft>
                <a:spcPts val="0"/>
              </a:spcAft>
              <a:buClr>
                <a:schemeClr val="dk1"/>
              </a:buClr>
              <a:buSzPts val="1200"/>
              <a:buFont typeface="Calibri"/>
              <a:buNone/>
            </a:pPr>
            <a:r>
              <a:t/>
            </a:r>
            <a:endParaRPr b="1"/>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43" name="Google Shape;34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seño personalizado">
  <p:cSld name="3_Diseño personalizado">
    <p:spTree>
      <p:nvGrpSpPr>
        <p:cNvPr id="21" name="Shape 21"/>
        <p:cNvGrpSpPr/>
        <p:nvPr/>
      </p:nvGrpSpPr>
      <p:grpSpPr>
        <a:xfrm>
          <a:off x="0" y="0"/>
          <a:ext cx="0" cy="0"/>
          <a:chOff x="0" y="0"/>
          <a:chExt cx="0" cy="0"/>
        </a:xfrm>
      </p:grpSpPr>
      <p:sp>
        <p:nvSpPr>
          <p:cNvPr id="22" name="Google Shape;22;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4" name="Google Shape;24;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5" name="Google Shape;25;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6" name="Shape 26"/>
        <p:cNvGrpSpPr/>
        <p:nvPr/>
      </p:nvGrpSpPr>
      <p:grpSpPr>
        <a:xfrm>
          <a:off x="0" y="0"/>
          <a:ext cx="0" cy="0"/>
          <a:chOff x="0" y="0"/>
          <a:chExt cx="0" cy="0"/>
        </a:xfrm>
      </p:grpSpPr>
      <p:sp>
        <p:nvSpPr>
          <p:cNvPr id="27" name="Google Shape;27;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782BB"/>
              </a:buClr>
              <a:buSzPts val="4400"/>
              <a:buFont typeface="Arial"/>
              <a:buNone/>
              <a:defRPr b="1">
                <a:solidFill>
                  <a:srgbClr val="2782BB"/>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34A6E"/>
              </a:buClr>
              <a:buSzPts val="2800"/>
              <a:buChar char="•"/>
              <a:defRPr>
                <a:solidFill>
                  <a:srgbClr val="134A6E"/>
                </a:solidFill>
                <a:latin typeface="Arial"/>
                <a:ea typeface="Arial"/>
                <a:cs typeface="Arial"/>
                <a:sym typeface="Arial"/>
              </a:defRPr>
            </a:lvl1pPr>
            <a:lvl2pPr indent="-381000" lvl="1" marL="914400" algn="l">
              <a:lnSpc>
                <a:spcPct val="90000"/>
              </a:lnSpc>
              <a:spcBef>
                <a:spcPts val="500"/>
              </a:spcBef>
              <a:spcAft>
                <a:spcPts val="0"/>
              </a:spcAft>
              <a:buClr>
                <a:srgbClr val="134A6E"/>
              </a:buClr>
              <a:buSzPts val="2400"/>
              <a:buChar char="•"/>
              <a:defRPr>
                <a:solidFill>
                  <a:srgbClr val="134A6E"/>
                </a:solidFill>
                <a:latin typeface="Arial"/>
                <a:ea typeface="Arial"/>
                <a:cs typeface="Arial"/>
                <a:sym typeface="Arial"/>
              </a:defRPr>
            </a:lvl2pPr>
            <a:lvl3pPr indent="-355600" lvl="2" marL="1371600" algn="l">
              <a:lnSpc>
                <a:spcPct val="90000"/>
              </a:lnSpc>
              <a:spcBef>
                <a:spcPts val="500"/>
              </a:spcBef>
              <a:spcAft>
                <a:spcPts val="0"/>
              </a:spcAft>
              <a:buClr>
                <a:srgbClr val="134A6E"/>
              </a:buClr>
              <a:buSzPts val="2000"/>
              <a:buChar char="•"/>
              <a:defRPr>
                <a:solidFill>
                  <a:srgbClr val="134A6E"/>
                </a:solidFill>
                <a:latin typeface="Arial"/>
                <a:ea typeface="Arial"/>
                <a:cs typeface="Arial"/>
                <a:sym typeface="Arial"/>
              </a:defRPr>
            </a:lvl3pPr>
            <a:lvl4pPr indent="-342900" lvl="3" marL="1828800" algn="l">
              <a:lnSpc>
                <a:spcPct val="90000"/>
              </a:lnSpc>
              <a:spcBef>
                <a:spcPts val="500"/>
              </a:spcBef>
              <a:spcAft>
                <a:spcPts val="0"/>
              </a:spcAft>
              <a:buClr>
                <a:srgbClr val="134A6E"/>
              </a:buClr>
              <a:buSzPts val="1800"/>
              <a:buChar char="•"/>
              <a:defRPr>
                <a:solidFill>
                  <a:srgbClr val="134A6E"/>
                </a:solidFill>
                <a:latin typeface="Arial"/>
                <a:ea typeface="Arial"/>
                <a:cs typeface="Arial"/>
                <a:sym typeface="Arial"/>
              </a:defRPr>
            </a:lvl4pPr>
            <a:lvl5pPr indent="-342900" lvl="4" marL="2286000" algn="l">
              <a:lnSpc>
                <a:spcPct val="90000"/>
              </a:lnSpc>
              <a:spcBef>
                <a:spcPts val="500"/>
              </a:spcBef>
              <a:spcAft>
                <a:spcPts val="0"/>
              </a:spcAft>
              <a:buClr>
                <a:srgbClr val="134A6E"/>
              </a:buClr>
              <a:buSzPts val="1800"/>
              <a:buChar char="•"/>
              <a:defRPr>
                <a:solidFill>
                  <a:srgbClr val="134A6E"/>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3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68776C"/>
              </a:buClr>
              <a:buSzPts val="2800"/>
              <a:buChar char="•"/>
              <a:defRPr>
                <a:solidFill>
                  <a:srgbClr val="68776C"/>
                </a:solidFill>
                <a:latin typeface="Arial"/>
                <a:ea typeface="Arial"/>
                <a:cs typeface="Arial"/>
                <a:sym typeface="Arial"/>
              </a:defRPr>
            </a:lvl1pPr>
            <a:lvl2pPr indent="-381000" lvl="1" marL="914400" algn="l">
              <a:lnSpc>
                <a:spcPct val="90000"/>
              </a:lnSpc>
              <a:spcBef>
                <a:spcPts val="500"/>
              </a:spcBef>
              <a:spcAft>
                <a:spcPts val="0"/>
              </a:spcAft>
              <a:buClr>
                <a:srgbClr val="68776C"/>
              </a:buClr>
              <a:buSzPts val="2400"/>
              <a:buChar char="•"/>
              <a:defRPr>
                <a:solidFill>
                  <a:srgbClr val="68776C"/>
                </a:solidFill>
                <a:latin typeface="Arial"/>
                <a:ea typeface="Arial"/>
                <a:cs typeface="Arial"/>
                <a:sym typeface="Arial"/>
              </a:defRPr>
            </a:lvl2pPr>
            <a:lvl3pPr indent="-355600" lvl="2" marL="1371600" algn="l">
              <a:lnSpc>
                <a:spcPct val="90000"/>
              </a:lnSpc>
              <a:spcBef>
                <a:spcPts val="500"/>
              </a:spcBef>
              <a:spcAft>
                <a:spcPts val="0"/>
              </a:spcAft>
              <a:buClr>
                <a:srgbClr val="68776C"/>
              </a:buClr>
              <a:buSzPts val="2000"/>
              <a:buChar char="•"/>
              <a:defRPr>
                <a:solidFill>
                  <a:srgbClr val="68776C"/>
                </a:solidFill>
                <a:latin typeface="Arial"/>
                <a:ea typeface="Arial"/>
                <a:cs typeface="Arial"/>
                <a:sym typeface="Arial"/>
              </a:defRPr>
            </a:lvl3pPr>
            <a:lvl4pPr indent="-342900" lvl="3" marL="1828800" algn="l">
              <a:lnSpc>
                <a:spcPct val="90000"/>
              </a:lnSpc>
              <a:spcBef>
                <a:spcPts val="500"/>
              </a:spcBef>
              <a:spcAft>
                <a:spcPts val="0"/>
              </a:spcAft>
              <a:buClr>
                <a:srgbClr val="68776C"/>
              </a:buClr>
              <a:buSzPts val="1800"/>
              <a:buChar char="•"/>
              <a:defRPr>
                <a:solidFill>
                  <a:srgbClr val="68776C"/>
                </a:solidFill>
                <a:latin typeface="Arial"/>
                <a:ea typeface="Arial"/>
                <a:cs typeface="Arial"/>
                <a:sym typeface="Arial"/>
              </a:defRPr>
            </a:lvl4pPr>
            <a:lvl5pPr indent="-342900" lvl="4" marL="2286000" algn="l">
              <a:lnSpc>
                <a:spcPct val="90000"/>
              </a:lnSpc>
              <a:spcBef>
                <a:spcPts val="500"/>
              </a:spcBef>
              <a:spcAft>
                <a:spcPts val="0"/>
              </a:spcAft>
              <a:buClr>
                <a:srgbClr val="68776C"/>
              </a:buClr>
              <a:buSzPts val="1800"/>
              <a:buChar char="•"/>
              <a:defRPr>
                <a:solidFill>
                  <a:srgbClr val="68776C"/>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Arial"/>
                <a:ea typeface="Arial"/>
                <a:cs typeface="Arial"/>
                <a:sym typeface="Arial"/>
              </a:defRPr>
            </a:lvl1pPr>
            <a:lvl2pPr indent="0" lvl="1" marL="0" algn="r">
              <a:spcBef>
                <a:spcPts val="0"/>
              </a:spcBef>
              <a:buNone/>
              <a:defRPr sz="1200">
                <a:solidFill>
                  <a:srgbClr val="888888"/>
                </a:solidFill>
                <a:latin typeface="Arial"/>
                <a:ea typeface="Arial"/>
                <a:cs typeface="Arial"/>
                <a:sym typeface="Arial"/>
              </a:defRPr>
            </a:lvl2pPr>
            <a:lvl3pPr indent="0" lvl="2" marL="0" algn="r">
              <a:spcBef>
                <a:spcPts val="0"/>
              </a:spcBef>
              <a:buNone/>
              <a:defRPr sz="1200">
                <a:solidFill>
                  <a:srgbClr val="888888"/>
                </a:solidFill>
                <a:latin typeface="Arial"/>
                <a:ea typeface="Arial"/>
                <a:cs typeface="Arial"/>
                <a:sym typeface="Arial"/>
              </a:defRPr>
            </a:lvl3pPr>
            <a:lvl4pPr indent="0" lvl="3" marL="0" algn="r">
              <a:spcBef>
                <a:spcPts val="0"/>
              </a:spcBef>
              <a:buNone/>
              <a:defRPr sz="1200">
                <a:solidFill>
                  <a:srgbClr val="888888"/>
                </a:solidFill>
                <a:latin typeface="Arial"/>
                <a:ea typeface="Arial"/>
                <a:cs typeface="Arial"/>
                <a:sym typeface="Arial"/>
              </a:defRPr>
            </a:lvl4pPr>
            <a:lvl5pPr indent="0" lvl="4" marL="0" algn="r">
              <a:spcBef>
                <a:spcPts val="0"/>
              </a:spcBef>
              <a:buNone/>
              <a:defRPr sz="1200">
                <a:solidFill>
                  <a:srgbClr val="888888"/>
                </a:solidFill>
                <a:latin typeface="Arial"/>
                <a:ea typeface="Arial"/>
                <a:cs typeface="Arial"/>
                <a:sym typeface="Arial"/>
              </a:defRPr>
            </a:lvl5pPr>
            <a:lvl6pPr indent="0" lvl="5" marL="0" algn="r">
              <a:spcBef>
                <a:spcPts val="0"/>
              </a:spcBef>
              <a:buNone/>
              <a:defRPr sz="1200">
                <a:solidFill>
                  <a:srgbClr val="888888"/>
                </a:solidFill>
                <a:latin typeface="Arial"/>
                <a:ea typeface="Arial"/>
                <a:cs typeface="Arial"/>
                <a:sym typeface="Arial"/>
              </a:defRPr>
            </a:lvl6pPr>
            <a:lvl7pPr indent="0" lvl="6" marL="0" algn="r">
              <a:spcBef>
                <a:spcPts val="0"/>
              </a:spcBef>
              <a:buNone/>
              <a:defRPr sz="1200">
                <a:solidFill>
                  <a:srgbClr val="888888"/>
                </a:solidFill>
                <a:latin typeface="Arial"/>
                <a:ea typeface="Arial"/>
                <a:cs typeface="Arial"/>
                <a:sym typeface="Arial"/>
              </a:defRPr>
            </a:lvl7pPr>
            <a:lvl8pPr indent="0" lvl="7" marL="0" algn="r">
              <a:spcBef>
                <a:spcPts val="0"/>
              </a:spcBef>
              <a:buNone/>
              <a:defRPr sz="1200">
                <a:solidFill>
                  <a:srgbClr val="888888"/>
                </a:solidFill>
                <a:latin typeface="Arial"/>
                <a:ea typeface="Arial"/>
                <a:cs typeface="Arial"/>
                <a:sym typeface="Arial"/>
              </a:defRPr>
            </a:lvl8pPr>
            <a:lvl9pPr indent="0" lvl="8" marL="0" algn="r">
              <a:spcBef>
                <a:spcPts val="0"/>
              </a:spcBef>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pic>
        <p:nvPicPr>
          <p:cNvPr id="33" name="Google Shape;33;p30"/>
          <p:cNvPicPr preferRelativeResize="0"/>
          <p:nvPr/>
        </p:nvPicPr>
        <p:blipFill rotWithShape="1">
          <a:blip r:embed="rId2">
            <a:alphaModFix/>
          </a:blip>
          <a:srcRect b="12086" l="11166" r="12353" t="19373"/>
          <a:stretch/>
        </p:blipFill>
        <p:spPr>
          <a:xfrm>
            <a:off x="10450008" y="6176963"/>
            <a:ext cx="1741992" cy="66329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3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7" name="Google Shape;67;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8" name="Google Shape;68;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37"/>
          <p:cNvSpPr/>
          <p:nvPr>
            <p:ph idx="2" type="pic"/>
          </p:nvPr>
        </p:nvSpPr>
        <p:spPr>
          <a:xfrm>
            <a:off x="5183188" y="987425"/>
            <a:ext cx="6172200" cy="4873625"/>
          </a:xfrm>
          <a:prstGeom prst="rect">
            <a:avLst/>
          </a:prstGeom>
          <a:noFill/>
          <a:ln>
            <a:noFill/>
          </a:ln>
        </p:spPr>
      </p:sp>
      <p:sp>
        <p:nvSpPr>
          <p:cNvPr id="74" name="Google Shape;74;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3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12.jpg"/><Relationship Id="rId5" Type="http://schemas.openxmlformats.org/officeDocument/2006/relationships/image" Target="../media/image30.png"/><Relationship Id="rId6"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7.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7.jp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22.png"/><Relationship Id="rId5"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Virtualización, Programabilidad y Automatización en Redes de Comunicaciones  | by Stechs | Medium" id="94" name="Google Shape;94;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5" name="Google Shape;95;p1"/>
          <p:cNvSpPr txBox="1"/>
          <p:nvPr>
            <p:ph type="ctrTitle"/>
          </p:nvPr>
        </p:nvSpPr>
        <p:spPr>
          <a:xfrm>
            <a:off x="712235" y="406400"/>
            <a:ext cx="10767530" cy="2387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Arial"/>
              <a:buNone/>
            </a:pPr>
            <a:r>
              <a:rPr b="1" lang="es-ES">
                <a:solidFill>
                  <a:schemeClr val="lt1"/>
                </a:solidFill>
                <a:latin typeface="Arial"/>
                <a:ea typeface="Arial"/>
                <a:cs typeface="Arial"/>
                <a:sym typeface="Arial"/>
              </a:rPr>
              <a:t>Automatización y Programabilidad de Redes</a:t>
            </a:r>
            <a:endParaRPr b="1">
              <a:solidFill>
                <a:schemeClr val="lt1"/>
              </a:solidFill>
              <a:latin typeface="Arial"/>
              <a:ea typeface="Arial"/>
              <a:cs typeface="Arial"/>
              <a:sym typeface="Arial"/>
            </a:endParaRPr>
          </a:p>
        </p:txBody>
      </p:sp>
      <p:sp>
        <p:nvSpPr>
          <p:cNvPr id="96" name="Google Shape;96;p1"/>
          <p:cNvSpPr txBox="1"/>
          <p:nvPr>
            <p:ph idx="1" type="subTitle"/>
          </p:nvPr>
        </p:nvSpPr>
        <p:spPr>
          <a:xfrm>
            <a:off x="712235" y="4728072"/>
            <a:ext cx="10767530" cy="16557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None/>
            </a:pPr>
            <a:r>
              <a:rPr lang="es-ES">
                <a:solidFill>
                  <a:schemeClr val="lt1"/>
                </a:solidFill>
                <a:latin typeface="Arial"/>
                <a:ea typeface="Arial"/>
                <a:cs typeface="Arial"/>
                <a:sym typeface="Arial"/>
              </a:rPr>
              <a:t>Marcos Schonfeld</a:t>
            </a:r>
            <a:endParaRPr/>
          </a:p>
          <a:p>
            <a:pPr indent="0" lvl="0" marL="0" rtl="0" algn="l">
              <a:lnSpc>
                <a:spcPct val="90000"/>
              </a:lnSpc>
              <a:spcBef>
                <a:spcPts val="1000"/>
              </a:spcBef>
              <a:spcAft>
                <a:spcPts val="0"/>
              </a:spcAft>
              <a:buClr>
                <a:schemeClr val="lt1"/>
              </a:buClr>
              <a:buSzPts val="2400"/>
              <a:buNone/>
            </a:pPr>
            <a:r>
              <a:rPr lang="es-ES">
                <a:solidFill>
                  <a:schemeClr val="lt1"/>
                </a:solidFill>
                <a:latin typeface="Arial"/>
                <a:ea typeface="Arial"/>
                <a:cs typeface="Arial"/>
                <a:sym typeface="Arial"/>
              </a:rPr>
              <a:t>Ing. en Telecomunicaciones</a:t>
            </a:r>
            <a:endParaRPr/>
          </a:p>
          <a:p>
            <a:pPr indent="0" lvl="0" marL="0" rtl="0" algn="l">
              <a:lnSpc>
                <a:spcPct val="90000"/>
              </a:lnSpc>
              <a:spcBef>
                <a:spcPts val="1000"/>
              </a:spcBef>
              <a:spcAft>
                <a:spcPts val="0"/>
              </a:spcAft>
              <a:buClr>
                <a:schemeClr val="lt1"/>
              </a:buClr>
              <a:buSzPts val="2400"/>
              <a:buNone/>
            </a:pPr>
            <a:r>
              <a:rPr lang="es-ES">
                <a:solidFill>
                  <a:schemeClr val="lt1"/>
                </a:solidFill>
                <a:latin typeface="Arial"/>
                <a:ea typeface="Arial"/>
                <a:cs typeface="Arial"/>
                <a:sym typeface="Arial"/>
              </a:rPr>
              <a:t>Junio 2023</a:t>
            </a:r>
            <a:endParaRPr>
              <a:solidFill>
                <a:schemeClr val="lt1"/>
              </a:solidFill>
              <a:latin typeface="Arial"/>
              <a:ea typeface="Arial"/>
              <a:cs typeface="Arial"/>
              <a:sym typeface="Arial"/>
            </a:endParaRPr>
          </a:p>
        </p:txBody>
      </p:sp>
      <p:pic>
        <p:nvPicPr>
          <p:cNvPr id="97" name="Google Shape;97;p1"/>
          <p:cNvPicPr preferRelativeResize="0"/>
          <p:nvPr/>
        </p:nvPicPr>
        <p:blipFill rotWithShape="1">
          <a:blip r:embed="rId4">
            <a:alphaModFix/>
          </a:blip>
          <a:srcRect b="0" l="0" r="0" t="0"/>
          <a:stretch/>
        </p:blipFill>
        <p:spPr>
          <a:xfrm>
            <a:off x="9386250" y="5632315"/>
            <a:ext cx="2093515" cy="75151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p:nvPr/>
        </p:nvSpPr>
        <p:spPr>
          <a:xfrm>
            <a:off x="0" y="0"/>
            <a:ext cx="12192000" cy="6858000"/>
          </a:xfrm>
          <a:prstGeom prst="rect">
            <a:avLst/>
          </a:prstGeom>
          <a:solidFill>
            <a:srgbClr val="2780B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picture containing text, screenshot, colorfulness, art&#10;&#10;Description automatically generated" id="103" name="Google Shape;103;p2"/>
          <p:cNvPicPr preferRelativeResize="0"/>
          <p:nvPr/>
        </p:nvPicPr>
        <p:blipFill rotWithShape="1">
          <a:blip r:embed="rId3">
            <a:alphaModFix/>
          </a:blip>
          <a:srcRect b="0" l="0" r="0" t="0"/>
          <a:stretch/>
        </p:blipFill>
        <p:spPr>
          <a:xfrm>
            <a:off x="324600" y="992591"/>
            <a:ext cx="5810619" cy="4350112"/>
          </a:xfrm>
          <a:prstGeom prst="rect">
            <a:avLst/>
          </a:prstGeom>
          <a:noFill/>
          <a:ln>
            <a:noFill/>
          </a:ln>
        </p:spPr>
      </p:pic>
      <p:sp>
        <p:nvSpPr>
          <p:cNvPr id="104" name="Google Shape;104;p2"/>
          <p:cNvSpPr txBox="1"/>
          <p:nvPr/>
        </p:nvSpPr>
        <p:spPr>
          <a:xfrm>
            <a:off x="6778110" y="1514829"/>
            <a:ext cx="4648199" cy="36433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Calibri"/>
              <a:buNone/>
            </a:pPr>
            <a:r>
              <a:rPr b="1" i="0" lang="es-ES" sz="4400" u="none" cap="none" strike="noStrike">
                <a:solidFill>
                  <a:schemeClr val="lt1"/>
                </a:solidFill>
                <a:latin typeface="Arial"/>
                <a:ea typeface="Arial"/>
                <a:cs typeface="Arial"/>
                <a:sym typeface="Arial"/>
              </a:rPr>
              <a:t>Diseño y desarrollo de software</a:t>
            </a:r>
            <a:endParaRPr b="1" i="0" sz="4400" u="none" cap="none" strike="noStrike">
              <a:solidFill>
                <a:schemeClr val="lt1"/>
              </a:solidFill>
              <a:latin typeface="Arial"/>
              <a:ea typeface="Arial"/>
              <a:cs typeface="Arial"/>
              <a:sym typeface="Arial"/>
            </a:endParaRPr>
          </a:p>
        </p:txBody>
      </p:sp>
      <p:pic>
        <p:nvPicPr>
          <p:cNvPr id="105" name="Google Shape;105;p2"/>
          <p:cNvPicPr preferRelativeResize="0"/>
          <p:nvPr/>
        </p:nvPicPr>
        <p:blipFill rotWithShape="1">
          <a:blip r:embed="rId4">
            <a:alphaModFix/>
          </a:blip>
          <a:srcRect b="0" l="0" r="0" t="0"/>
          <a:stretch/>
        </p:blipFill>
        <p:spPr>
          <a:xfrm>
            <a:off x="9386250" y="5632315"/>
            <a:ext cx="2093515" cy="751519"/>
          </a:xfrm>
          <a:prstGeom prst="rect">
            <a:avLst/>
          </a:prstGeom>
          <a:noFill/>
          <a:ln>
            <a:noFill/>
          </a:ln>
        </p:spPr>
      </p:pic>
      <p:sp>
        <p:nvSpPr>
          <p:cNvPr id="106" name="Google Shape;106;p2"/>
          <p:cNvSpPr/>
          <p:nvPr/>
        </p:nvSpPr>
        <p:spPr>
          <a:xfrm>
            <a:off x="6778110" y="5226440"/>
            <a:ext cx="768486" cy="116731"/>
          </a:xfrm>
          <a:prstGeom prst="rect">
            <a:avLst/>
          </a:prstGeom>
          <a:solidFill>
            <a:srgbClr val="BEB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7" name="Google Shape;107;p2"/>
          <p:cNvSpPr txBox="1"/>
          <p:nvPr/>
        </p:nvSpPr>
        <p:spPr>
          <a:xfrm>
            <a:off x="6778110" y="993059"/>
            <a:ext cx="4701656" cy="394698"/>
          </a:xfrm>
          <a:prstGeom prst="rect">
            <a:avLst/>
          </a:prstGeom>
          <a:solidFill>
            <a:srgbClr val="134A6E"/>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Calibri"/>
              <a:buNone/>
            </a:pPr>
            <a:r>
              <a:rPr b="0" i="0" lang="es-ES" sz="2000" u="none" cap="none" strike="noStrike">
                <a:solidFill>
                  <a:schemeClr val="lt1"/>
                </a:solidFill>
                <a:latin typeface="Arial"/>
                <a:ea typeface="Arial"/>
                <a:cs typeface="Arial"/>
                <a:sym typeface="Arial"/>
              </a:rPr>
              <a:t>Módulo 2 / Unidad 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3"/>
          <p:cNvPicPr preferRelativeResize="0"/>
          <p:nvPr/>
        </p:nvPicPr>
        <p:blipFill rotWithShape="1">
          <a:blip r:embed="rId3">
            <a:alphaModFix/>
          </a:blip>
          <a:srcRect b="12086" l="11166" r="12353" t="19373"/>
          <a:stretch/>
        </p:blipFill>
        <p:spPr>
          <a:xfrm>
            <a:off x="9386251" y="5632315"/>
            <a:ext cx="2093514" cy="797146"/>
          </a:xfrm>
          <a:prstGeom prst="rect">
            <a:avLst/>
          </a:prstGeom>
          <a:noFill/>
          <a:ln>
            <a:noFill/>
          </a:ln>
        </p:spPr>
      </p:pic>
      <p:sp>
        <p:nvSpPr>
          <p:cNvPr id="113" name="Google Shape;113;p3"/>
          <p:cNvSpPr txBox="1"/>
          <p:nvPr/>
        </p:nvSpPr>
        <p:spPr>
          <a:xfrm>
            <a:off x="5110494" y="1663742"/>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b="0" i="0" lang="es-ES" sz="2400" u="none" cap="none" strike="noStrike">
                <a:solidFill>
                  <a:srgbClr val="313537"/>
                </a:solidFill>
                <a:latin typeface="Arial"/>
                <a:ea typeface="Arial"/>
                <a:cs typeface="Arial"/>
                <a:sym typeface="Arial"/>
              </a:rPr>
              <a:t>Desarrollo y patrones de diseño de software</a:t>
            </a:r>
            <a:endParaRPr b="0" i="0" sz="2400" u="none" cap="none" strike="noStrike">
              <a:solidFill>
                <a:srgbClr val="313537"/>
              </a:solidFill>
              <a:latin typeface="Arial"/>
              <a:ea typeface="Arial"/>
              <a:cs typeface="Arial"/>
              <a:sym typeface="Arial"/>
            </a:endParaRPr>
          </a:p>
        </p:txBody>
      </p:sp>
      <p:pic>
        <p:nvPicPr>
          <p:cNvPr id="114" name="Google Shape;114;p3"/>
          <p:cNvPicPr preferRelativeResize="0"/>
          <p:nvPr/>
        </p:nvPicPr>
        <p:blipFill rotWithShape="1">
          <a:blip r:embed="rId4">
            <a:alphaModFix/>
          </a:blip>
          <a:srcRect b="0" l="0" r="0" t="0"/>
          <a:stretch/>
        </p:blipFill>
        <p:spPr>
          <a:xfrm>
            <a:off x="4741817" y="1731733"/>
            <a:ext cx="321338" cy="347507"/>
          </a:xfrm>
          <a:prstGeom prst="rect">
            <a:avLst/>
          </a:prstGeom>
          <a:noFill/>
          <a:ln>
            <a:noFill/>
          </a:ln>
        </p:spPr>
      </p:pic>
      <p:sp>
        <p:nvSpPr>
          <p:cNvPr id="115" name="Google Shape;115;p3"/>
          <p:cNvSpPr/>
          <p:nvPr/>
        </p:nvSpPr>
        <p:spPr>
          <a:xfrm>
            <a:off x="0" y="0"/>
            <a:ext cx="4310743" cy="6858000"/>
          </a:xfrm>
          <a:prstGeom prst="rect">
            <a:avLst/>
          </a:prstGeom>
          <a:solidFill>
            <a:srgbClr val="2780B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6" name="Google Shape;116;p3"/>
          <p:cNvSpPr txBox="1"/>
          <p:nvPr/>
        </p:nvSpPr>
        <p:spPr>
          <a:xfrm>
            <a:off x="300446" y="1813556"/>
            <a:ext cx="444137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4000" u="none" cap="none" strike="noStrike">
                <a:solidFill>
                  <a:schemeClr val="lt1"/>
                </a:solidFill>
                <a:latin typeface="Arial"/>
                <a:ea typeface="Arial"/>
                <a:cs typeface="Arial"/>
                <a:sym typeface="Arial"/>
              </a:rPr>
              <a:t>Temario</a:t>
            </a:r>
            <a:endParaRPr b="1" sz="1800">
              <a:solidFill>
                <a:schemeClr val="lt1"/>
              </a:solidFill>
              <a:latin typeface="Arial"/>
              <a:ea typeface="Arial"/>
              <a:cs typeface="Arial"/>
              <a:sym typeface="Arial"/>
            </a:endParaRPr>
          </a:p>
        </p:txBody>
      </p:sp>
      <p:sp>
        <p:nvSpPr>
          <p:cNvPr id="117" name="Google Shape;117;p3"/>
          <p:cNvSpPr/>
          <p:nvPr/>
        </p:nvSpPr>
        <p:spPr>
          <a:xfrm>
            <a:off x="300446" y="5226440"/>
            <a:ext cx="768486" cy="116731"/>
          </a:xfrm>
          <a:prstGeom prst="rect">
            <a:avLst/>
          </a:prstGeom>
          <a:solidFill>
            <a:srgbClr val="BEB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 name="Google Shape;118;p3"/>
          <p:cNvSpPr txBox="1"/>
          <p:nvPr/>
        </p:nvSpPr>
        <p:spPr>
          <a:xfrm>
            <a:off x="5110494" y="2621631"/>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313537"/>
                </a:solidFill>
                <a:latin typeface="Arial"/>
                <a:ea typeface="Arial"/>
                <a:cs typeface="Arial"/>
                <a:sym typeface="Arial"/>
              </a:rPr>
              <a:t>Control de versiones con GIT</a:t>
            </a:r>
            <a:endParaRPr sz="2400">
              <a:solidFill>
                <a:srgbClr val="313537"/>
              </a:solidFill>
              <a:latin typeface="Arial"/>
              <a:ea typeface="Arial"/>
              <a:cs typeface="Arial"/>
              <a:sym typeface="Arial"/>
            </a:endParaRPr>
          </a:p>
        </p:txBody>
      </p:sp>
      <p:pic>
        <p:nvPicPr>
          <p:cNvPr id="119" name="Google Shape;119;p3"/>
          <p:cNvPicPr preferRelativeResize="0"/>
          <p:nvPr/>
        </p:nvPicPr>
        <p:blipFill rotWithShape="1">
          <a:blip r:embed="rId4">
            <a:alphaModFix/>
          </a:blip>
          <a:srcRect b="0" l="0" r="0" t="0"/>
          <a:stretch/>
        </p:blipFill>
        <p:spPr>
          <a:xfrm>
            <a:off x="4741817" y="2678709"/>
            <a:ext cx="321338" cy="347507"/>
          </a:xfrm>
          <a:prstGeom prst="rect">
            <a:avLst/>
          </a:prstGeom>
          <a:noFill/>
          <a:ln>
            <a:noFill/>
          </a:ln>
        </p:spPr>
      </p:pic>
      <p:sp>
        <p:nvSpPr>
          <p:cNvPr id="120" name="Google Shape;120;p3"/>
          <p:cNvSpPr txBox="1"/>
          <p:nvPr/>
        </p:nvSpPr>
        <p:spPr>
          <a:xfrm>
            <a:off x="5110494" y="3594111"/>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313537"/>
                </a:solidFill>
                <a:latin typeface="Arial"/>
                <a:ea typeface="Arial"/>
                <a:cs typeface="Arial"/>
                <a:sym typeface="Arial"/>
              </a:rPr>
              <a:t>Conceptos básicos de codificación</a:t>
            </a:r>
            <a:endParaRPr sz="2400">
              <a:solidFill>
                <a:srgbClr val="313537"/>
              </a:solidFill>
              <a:latin typeface="Arial"/>
              <a:ea typeface="Arial"/>
              <a:cs typeface="Arial"/>
              <a:sym typeface="Arial"/>
            </a:endParaRPr>
          </a:p>
        </p:txBody>
      </p:sp>
      <p:pic>
        <p:nvPicPr>
          <p:cNvPr id="121" name="Google Shape;121;p3"/>
          <p:cNvPicPr preferRelativeResize="0"/>
          <p:nvPr/>
        </p:nvPicPr>
        <p:blipFill rotWithShape="1">
          <a:blip r:embed="rId4">
            <a:alphaModFix/>
          </a:blip>
          <a:srcRect b="0" l="0" r="0" t="0"/>
          <a:stretch/>
        </p:blipFill>
        <p:spPr>
          <a:xfrm>
            <a:off x="4741817" y="3651189"/>
            <a:ext cx="321338" cy="347507"/>
          </a:xfrm>
          <a:prstGeom prst="rect">
            <a:avLst/>
          </a:prstGeom>
          <a:noFill/>
          <a:ln>
            <a:noFill/>
          </a:ln>
        </p:spPr>
      </p:pic>
      <p:sp>
        <p:nvSpPr>
          <p:cNvPr id="122" name="Google Shape;122;p3"/>
          <p:cNvSpPr txBox="1"/>
          <p:nvPr/>
        </p:nvSpPr>
        <p:spPr>
          <a:xfrm>
            <a:off x="5006894" y="4584666"/>
            <a:ext cx="6781200" cy="461700"/>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313537"/>
                </a:solidFill>
                <a:latin typeface="Arial"/>
                <a:ea typeface="Arial"/>
                <a:cs typeface="Arial"/>
                <a:sym typeface="Arial"/>
              </a:rPr>
              <a:t>Formato de los datos</a:t>
            </a:r>
            <a:endParaRPr sz="2400">
              <a:solidFill>
                <a:srgbClr val="313537"/>
              </a:solidFill>
              <a:latin typeface="Arial"/>
              <a:ea typeface="Arial"/>
              <a:cs typeface="Arial"/>
              <a:sym typeface="Arial"/>
            </a:endParaRPr>
          </a:p>
        </p:txBody>
      </p:sp>
      <p:pic>
        <p:nvPicPr>
          <p:cNvPr id="123" name="Google Shape;123;p3"/>
          <p:cNvPicPr preferRelativeResize="0"/>
          <p:nvPr/>
        </p:nvPicPr>
        <p:blipFill rotWithShape="1">
          <a:blip r:embed="rId4">
            <a:alphaModFix/>
          </a:blip>
          <a:srcRect b="0" l="0" r="0" t="0"/>
          <a:stretch/>
        </p:blipFill>
        <p:spPr>
          <a:xfrm>
            <a:off x="4741817" y="4605006"/>
            <a:ext cx="321338" cy="3475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4"/>
          <p:cNvPicPr preferRelativeResize="0"/>
          <p:nvPr/>
        </p:nvPicPr>
        <p:blipFill rotWithShape="1">
          <a:blip r:embed="rId3">
            <a:alphaModFix/>
          </a:blip>
          <a:srcRect b="12086" l="11166" r="12353" t="19373"/>
          <a:stretch/>
        </p:blipFill>
        <p:spPr>
          <a:xfrm>
            <a:off x="9386251" y="5632315"/>
            <a:ext cx="2093514" cy="797146"/>
          </a:xfrm>
          <a:prstGeom prst="rect">
            <a:avLst/>
          </a:prstGeom>
          <a:noFill/>
          <a:ln>
            <a:noFill/>
          </a:ln>
        </p:spPr>
      </p:pic>
      <p:sp>
        <p:nvSpPr>
          <p:cNvPr id="129" name="Google Shape;129;p4"/>
          <p:cNvSpPr txBox="1"/>
          <p:nvPr/>
        </p:nvSpPr>
        <p:spPr>
          <a:xfrm>
            <a:off x="5110494" y="1663742"/>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b="1" lang="es-ES" sz="2400">
                <a:solidFill>
                  <a:srgbClr val="2782BB"/>
                </a:solidFill>
                <a:latin typeface="Arial"/>
                <a:ea typeface="Arial"/>
                <a:cs typeface="Arial"/>
                <a:sym typeface="Arial"/>
              </a:rPr>
              <a:t>Desarrollo y patrones de diseño de software</a:t>
            </a:r>
            <a:endParaRPr b="1" sz="2400">
              <a:solidFill>
                <a:srgbClr val="2782BB"/>
              </a:solidFill>
              <a:latin typeface="Arial"/>
              <a:ea typeface="Arial"/>
              <a:cs typeface="Arial"/>
              <a:sym typeface="Arial"/>
            </a:endParaRPr>
          </a:p>
        </p:txBody>
      </p:sp>
      <p:pic>
        <p:nvPicPr>
          <p:cNvPr id="130" name="Google Shape;130;p4"/>
          <p:cNvPicPr preferRelativeResize="0"/>
          <p:nvPr/>
        </p:nvPicPr>
        <p:blipFill rotWithShape="1">
          <a:blip r:embed="rId4">
            <a:alphaModFix/>
          </a:blip>
          <a:srcRect b="0" l="0" r="0" t="0"/>
          <a:stretch/>
        </p:blipFill>
        <p:spPr>
          <a:xfrm>
            <a:off x="4741817" y="1731733"/>
            <a:ext cx="321338" cy="347507"/>
          </a:xfrm>
          <a:prstGeom prst="rect">
            <a:avLst/>
          </a:prstGeom>
          <a:noFill/>
          <a:ln>
            <a:noFill/>
          </a:ln>
        </p:spPr>
      </p:pic>
      <p:sp>
        <p:nvSpPr>
          <p:cNvPr id="131" name="Google Shape;131;p4"/>
          <p:cNvSpPr/>
          <p:nvPr/>
        </p:nvSpPr>
        <p:spPr>
          <a:xfrm>
            <a:off x="0" y="0"/>
            <a:ext cx="4310743" cy="6858000"/>
          </a:xfrm>
          <a:prstGeom prst="rect">
            <a:avLst/>
          </a:prstGeom>
          <a:solidFill>
            <a:srgbClr val="2780B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2" name="Google Shape;132;p4"/>
          <p:cNvSpPr txBox="1"/>
          <p:nvPr/>
        </p:nvSpPr>
        <p:spPr>
          <a:xfrm>
            <a:off x="300446" y="1813556"/>
            <a:ext cx="444137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4000">
                <a:solidFill>
                  <a:schemeClr val="lt1"/>
                </a:solidFill>
                <a:latin typeface="Arial"/>
                <a:ea typeface="Arial"/>
                <a:cs typeface="Arial"/>
                <a:sym typeface="Arial"/>
              </a:rPr>
              <a:t>Temario</a:t>
            </a:r>
            <a:endParaRPr b="1" sz="1800">
              <a:solidFill>
                <a:schemeClr val="lt1"/>
              </a:solidFill>
              <a:latin typeface="Arial"/>
              <a:ea typeface="Arial"/>
              <a:cs typeface="Arial"/>
              <a:sym typeface="Arial"/>
            </a:endParaRPr>
          </a:p>
        </p:txBody>
      </p:sp>
      <p:sp>
        <p:nvSpPr>
          <p:cNvPr id="133" name="Google Shape;133;p4"/>
          <p:cNvSpPr/>
          <p:nvPr/>
        </p:nvSpPr>
        <p:spPr>
          <a:xfrm>
            <a:off x="300446" y="5226440"/>
            <a:ext cx="768486" cy="116731"/>
          </a:xfrm>
          <a:prstGeom prst="rect">
            <a:avLst/>
          </a:prstGeom>
          <a:solidFill>
            <a:srgbClr val="BEB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 name="Google Shape;134;p4"/>
          <p:cNvSpPr txBox="1"/>
          <p:nvPr/>
        </p:nvSpPr>
        <p:spPr>
          <a:xfrm>
            <a:off x="5110494" y="2621631"/>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68776C"/>
                </a:solidFill>
                <a:latin typeface="Arial"/>
                <a:ea typeface="Arial"/>
                <a:cs typeface="Arial"/>
                <a:sym typeface="Arial"/>
              </a:rPr>
              <a:t>Control de versiones con GIT</a:t>
            </a:r>
            <a:endParaRPr sz="2400">
              <a:solidFill>
                <a:srgbClr val="68776C"/>
              </a:solidFill>
              <a:latin typeface="Arial"/>
              <a:ea typeface="Arial"/>
              <a:cs typeface="Arial"/>
              <a:sym typeface="Arial"/>
            </a:endParaRPr>
          </a:p>
        </p:txBody>
      </p:sp>
      <p:pic>
        <p:nvPicPr>
          <p:cNvPr id="135" name="Google Shape;135;p4"/>
          <p:cNvPicPr preferRelativeResize="0"/>
          <p:nvPr/>
        </p:nvPicPr>
        <p:blipFill rotWithShape="1">
          <a:blip r:embed="rId4">
            <a:alphaModFix/>
          </a:blip>
          <a:srcRect b="0" l="0" r="0" t="0"/>
          <a:stretch/>
        </p:blipFill>
        <p:spPr>
          <a:xfrm>
            <a:off x="4741817" y="2678709"/>
            <a:ext cx="321338" cy="347507"/>
          </a:xfrm>
          <a:prstGeom prst="rect">
            <a:avLst/>
          </a:prstGeom>
          <a:noFill/>
          <a:ln>
            <a:noFill/>
          </a:ln>
        </p:spPr>
      </p:pic>
      <p:sp>
        <p:nvSpPr>
          <p:cNvPr id="136" name="Google Shape;136;p4"/>
          <p:cNvSpPr txBox="1"/>
          <p:nvPr/>
        </p:nvSpPr>
        <p:spPr>
          <a:xfrm>
            <a:off x="5110494" y="3594111"/>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68776C"/>
                </a:solidFill>
                <a:latin typeface="Arial"/>
                <a:ea typeface="Arial"/>
                <a:cs typeface="Arial"/>
                <a:sym typeface="Arial"/>
              </a:rPr>
              <a:t>Conceptos básicos de codificación</a:t>
            </a:r>
            <a:endParaRPr sz="2400">
              <a:solidFill>
                <a:srgbClr val="68776C"/>
              </a:solidFill>
              <a:latin typeface="Arial"/>
              <a:ea typeface="Arial"/>
              <a:cs typeface="Arial"/>
              <a:sym typeface="Arial"/>
            </a:endParaRPr>
          </a:p>
        </p:txBody>
      </p:sp>
      <p:pic>
        <p:nvPicPr>
          <p:cNvPr id="137" name="Google Shape;137;p4"/>
          <p:cNvPicPr preferRelativeResize="0"/>
          <p:nvPr/>
        </p:nvPicPr>
        <p:blipFill rotWithShape="1">
          <a:blip r:embed="rId4">
            <a:alphaModFix/>
          </a:blip>
          <a:srcRect b="0" l="0" r="0" t="0"/>
          <a:stretch/>
        </p:blipFill>
        <p:spPr>
          <a:xfrm>
            <a:off x="4741817" y="3651189"/>
            <a:ext cx="321338" cy="347507"/>
          </a:xfrm>
          <a:prstGeom prst="rect">
            <a:avLst/>
          </a:prstGeom>
          <a:noFill/>
          <a:ln>
            <a:noFill/>
          </a:ln>
        </p:spPr>
      </p:pic>
      <p:sp>
        <p:nvSpPr>
          <p:cNvPr id="138" name="Google Shape;138;p4"/>
          <p:cNvSpPr txBox="1"/>
          <p:nvPr/>
        </p:nvSpPr>
        <p:spPr>
          <a:xfrm>
            <a:off x="5110494" y="4547928"/>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68776C"/>
                </a:solidFill>
                <a:latin typeface="Arial"/>
                <a:ea typeface="Arial"/>
                <a:cs typeface="Arial"/>
                <a:sym typeface="Arial"/>
              </a:rPr>
              <a:t>Formato de los datos</a:t>
            </a:r>
            <a:endParaRPr sz="2400">
              <a:solidFill>
                <a:srgbClr val="68776C"/>
              </a:solidFill>
              <a:latin typeface="Arial"/>
              <a:ea typeface="Arial"/>
              <a:cs typeface="Arial"/>
              <a:sym typeface="Arial"/>
            </a:endParaRPr>
          </a:p>
        </p:txBody>
      </p:sp>
      <p:pic>
        <p:nvPicPr>
          <p:cNvPr id="139" name="Google Shape;139;p4"/>
          <p:cNvPicPr preferRelativeResize="0"/>
          <p:nvPr/>
        </p:nvPicPr>
        <p:blipFill rotWithShape="1">
          <a:blip r:embed="rId4">
            <a:alphaModFix/>
          </a:blip>
          <a:srcRect b="0" l="0" r="0" t="0"/>
          <a:stretch/>
        </p:blipFill>
        <p:spPr>
          <a:xfrm>
            <a:off x="4741817" y="4605006"/>
            <a:ext cx="321338" cy="34750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Desarrollo y patrones de diseño de software</a:t>
            </a:r>
            <a:endParaRPr/>
          </a:p>
        </p:txBody>
      </p:sp>
      <p:sp>
        <p:nvSpPr>
          <p:cNvPr id="145" name="Google Shape;14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134A6E"/>
              </a:buClr>
              <a:buSzPts val="2800"/>
              <a:buChar char="•"/>
            </a:pPr>
            <a:r>
              <a:rPr lang="es-ES"/>
              <a:t>El ciclo de vida del desarrollo de software (SDLC) comienza con un requerimiento y finaliza con la entrega.</a:t>
            </a:r>
            <a:endParaRPr/>
          </a:p>
          <a:p>
            <a:pPr indent="-228600" lvl="0" marL="228600" rtl="0" algn="l">
              <a:lnSpc>
                <a:spcPct val="90000"/>
              </a:lnSpc>
              <a:spcBef>
                <a:spcPts val="1000"/>
              </a:spcBef>
              <a:spcAft>
                <a:spcPts val="0"/>
              </a:spcAft>
              <a:buClr>
                <a:srgbClr val="134A6E"/>
              </a:buClr>
              <a:buSzPts val="2800"/>
              <a:buChar char="•"/>
            </a:pPr>
            <a:r>
              <a:rPr lang="es-ES"/>
              <a:t>El proceso consta de cinco fases (algunos autores la dividen en seis fases).</a:t>
            </a:r>
            <a:endParaRPr/>
          </a:p>
          <a:p>
            <a:pPr indent="-228600" lvl="0" marL="228600" rtl="0" algn="l">
              <a:lnSpc>
                <a:spcPct val="90000"/>
              </a:lnSpc>
              <a:spcBef>
                <a:spcPts val="1000"/>
              </a:spcBef>
              <a:spcAft>
                <a:spcPts val="0"/>
              </a:spcAft>
              <a:buClr>
                <a:srgbClr val="134A6E"/>
              </a:buClr>
              <a:buSzPts val="2800"/>
              <a:buChar char="•"/>
            </a:pPr>
            <a:r>
              <a:rPr lang="es-ES"/>
              <a:t>Cada fase es alimentada con la anterior.</a:t>
            </a:r>
            <a:endParaRPr/>
          </a:p>
        </p:txBody>
      </p:sp>
      <p:pic>
        <p:nvPicPr>
          <p:cNvPr descr="Systems development life cycle (SDLC) - Mission Control" id="146" name="Google Shape;146;p5"/>
          <p:cNvPicPr preferRelativeResize="0"/>
          <p:nvPr>
            <p:ph idx="2" type="body"/>
          </p:nvPr>
        </p:nvPicPr>
        <p:blipFill rotWithShape="1">
          <a:blip r:embed="rId3">
            <a:alphaModFix/>
          </a:blip>
          <a:srcRect b="0" l="0" r="0" t="0"/>
          <a:stretch/>
        </p:blipFill>
        <p:spPr>
          <a:xfrm>
            <a:off x="6600079" y="1825625"/>
            <a:ext cx="4325841" cy="43513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Desarrollo y patrones de diseño de software</a:t>
            </a:r>
            <a:endParaRPr/>
          </a:p>
        </p:txBody>
      </p:sp>
      <p:sp>
        <p:nvSpPr>
          <p:cNvPr id="152" name="Google Shape;152;p6"/>
          <p:cNvSpPr txBox="1"/>
          <p:nvPr>
            <p:ph idx="1" type="body"/>
          </p:nvPr>
        </p:nvSpPr>
        <p:spPr>
          <a:xfrm>
            <a:off x="838200" y="1825625"/>
            <a:ext cx="5181600" cy="4667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134A6E"/>
              </a:buClr>
              <a:buSzPts val="2800"/>
              <a:buNone/>
            </a:pPr>
            <a:r>
              <a:rPr b="1" lang="es-ES" u="sng"/>
              <a:t>Análisis de Requerimientos</a:t>
            </a:r>
            <a:endParaRPr/>
          </a:p>
          <a:p>
            <a:pPr indent="-228600" lvl="1" marL="685800" rtl="0" algn="l">
              <a:lnSpc>
                <a:spcPct val="90000"/>
              </a:lnSpc>
              <a:spcBef>
                <a:spcPts val="500"/>
              </a:spcBef>
              <a:spcAft>
                <a:spcPts val="0"/>
              </a:spcAft>
              <a:buClr>
                <a:srgbClr val="313537"/>
              </a:buClr>
              <a:buSzPts val="2400"/>
              <a:buChar char="•"/>
            </a:pPr>
            <a:r>
              <a:rPr b="0" i="0" lang="es-ES">
                <a:solidFill>
                  <a:srgbClr val="313537"/>
                </a:solidFill>
                <a:latin typeface="Arial"/>
                <a:ea typeface="Arial"/>
                <a:cs typeface="Arial"/>
                <a:sym typeface="Arial"/>
              </a:rPr>
              <a:t>Estado de la situación actua</a:t>
            </a:r>
            <a:r>
              <a:rPr lang="es-ES">
                <a:solidFill>
                  <a:srgbClr val="313537"/>
                </a:solidFill>
              </a:rPr>
              <a:t>l:</a:t>
            </a:r>
            <a:endParaRPr/>
          </a:p>
          <a:p>
            <a:pPr indent="-228600" lvl="2" marL="1143000" rtl="0" algn="l">
              <a:lnSpc>
                <a:spcPct val="90000"/>
              </a:lnSpc>
              <a:spcBef>
                <a:spcPts val="500"/>
              </a:spcBef>
              <a:spcAft>
                <a:spcPts val="0"/>
              </a:spcAft>
              <a:buClr>
                <a:srgbClr val="313537"/>
              </a:buClr>
              <a:buSzPts val="2400"/>
              <a:buChar char="•"/>
            </a:pPr>
            <a:r>
              <a:rPr b="0" i="0" lang="es-ES" sz="2400">
                <a:solidFill>
                  <a:srgbClr val="313537"/>
                </a:solidFill>
                <a:latin typeface="Arial"/>
                <a:ea typeface="Arial"/>
                <a:cs typeface="Arial"/>
                <a:sym typeface="Arial"/>
              </a:rPr>
              <a:t>Necesidades</a:t>
            </a:r>
            <a:endParaRPr/>
          </a:p>
          <a:p>
            <a:pPr indent="-228600" lvl="2" marL="1143000" rtl="0" algn="l">
              <a:lnSpc>
                <a:spcPct val="90000"/>
              </a:lnSpc>
              <a:spcBef>
                <a:spcPts val="500"/>
              </a:spcBef>
              <a:spcAft>
                <a:spcPts val="0"/>
              </a:spcAft>
              <a:buClr>
                <a:srgbClr val="313537"/>
              </a:buClr>
              <a:buSzPts val="2400"/>
              <a:buChar char="•"/>
            </a:pPr>
            <a:r>
              <a:rPr b="0" i="0" lang="es-ES" sz="2400">
                <a:solidFill>
                  <a:srgbClr val="313537"/>
                </a:solidFill>
                <a:latin typeface="Arial"/>
                <a:ea typeface="Arial"/>
                <a:cs typeface="Arial"/>
                <a:sym typeface="Arial"/>
              </a:rPr>
              <a:t>Expectativas</a:t>
            </a:r>
            <a:endParaRPr/>
          </a:p>
          <a:p>
            <a:pPr indent="-228600" lvl="2" marL="1143000" rtl="0" algn="l">
              <a:lnSpc>
                <a:spcPct val="90000"/>
              </a:lnSpc>
              <a:spcBef>
                <a:spcPts val="500"/>
              </a:spcBef>
              <a:spcAft>
                <a:spcPts val="0"/>
              </a:spcAft>
              <a:buClr>
                <a:srgbClr val="313537"/>
              </a:buClr>
              <a:buSzPts val="2400"/>
              <a:buChar char="•"/>
            </a:pPr>
            <a:r>
              <a:rPr lang="es-ES" sz="2400">
                <a:solidFill>
                  <a:srgbClr val="313537"/>
                </a:solidFill>
              </a:rPr>
              <a:t>L</a:t>
            </a:r>
            <a:r>
              <a:rPr b="0" i="0" lang="es-ES" sz="2400">
                <a:solidFill>
                  <a:srgbClr val="313537"/>
                </a:solidFill>
                <a:latin typeface="Arial"/>
                <a:ea typeface="Arial"/>
                <a:cs typeface="Arial"/>
                <a:sym typeface="Arial"/>
              </a:rPr>
              <a:t>imitaciones</a:t>
            </a:r>
            <a:endParaRPr/>
          </a:p>
          <a:p>
            <a:pPr indent="-228600" lvl="2" marL="1143000" rtl="0" algn="l">
              <a:lnSpc>
                <a:spcPct val="90000"/>
              </a:lnSpc>
              <a:spcBef>
                <a:spcPts val="500"/>
              </a:spcBef>
              <a:spcAft>
                <a:spcPts val="0"/>
              </a:spcAft>
              <a:buClr>
                <a:srgbClr val="313537"/>
              </a:buClr>
              <a:buSzPts val="2400"/>
              <a:buChar char="•"/>
            </a:pPr>
            <a:r>
              <a:rPr lang="es-ES" sz="2400">
                <a:solidFill>
                  <a:srgbClr val="313537"/>
                </a:solidFill>
              </a:rPr>
              <a:t>I</a:t>
            </a:r>
            <a:r>
              <a:rPr b="0" i="0" lang="es-ES" sz="2400">
                <a:solidFill>
                  <a:srgbClr val="313537"/>
                </a:solidFill>
                <a:latin typeface="Arial"/>
                <a:ea typeface="Arial"/>
                <a:cs typeface="Arial"/>
                <a:sym typeface="Arial"/>
              </a:rPr>
              <a:t>nfraestructura actual </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Qué problema(s) debe resolver el nuevo software.</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Entregable:</a:t>
            </a:r>
            <a:endParaRPr/>
          </a:p>
          <a:p>
            <a:pPr indent="-228600" lvl="2" marL="1143000" rtl="0" algn="l">
              <a:lnSpc>
                <a:spcPct val="90000"/>
              </a:lnSpc>
              <a:spcBef>
                <a:spcPts val="500"/>
              </a:spcBef>
              <a:spcAft>
                <a:spcPts val="0"/>
              </a:spcAft>
              <a:buClr>
                <a:srgbClr val="313537"/>
              </a:buClr>
              <a:buSzPts val="2400"/>
              <a:buChar char="•"/>
            </a:pPr>
            <a:r>
              <a:rPr lang="es-ES" sz="2400">
                <a:solidFill>
                  <a:srgbClr val="313537"/>
                </a:solidFill>
              </a:rPr>
              <a:t>Documento de especificación de requerimientos</a:t>
            </a:r>
            <a:endParaRPr sz="2400">
              <a:solidFill>
                <a:srgbClr val="313537"/>
              </a:solidFill>
            </a:endParaRPr>
          </a:p>
        </p:txBody>
      </p:sp>
      <p:sp>
        <p:nvSpPr>
          <p:cNvPr id="153" name="Google Shape;153;p6"/>
          <p:cNvSpPr txBox="1"/>
          <p:nvPr>
            <p:ph idx="2" type="body"/>
          </p:nvPr>
        </p:nvSpPr>
        <p:spPr>
          <a:xfrm>
            <a:off x="6719208" y="1825625"/>
            <a:ext cx="5181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134A6E"/>
              </a:buClr>
              <a:buSzPts val="2800"/>
              <a:buNone/>
            </a:pPr>
            <a:r>
              <a:rPr b="1" lang="es-ES" u="sng">
                <a:solidFill>
                  <a:srgbClr val="134A6E"/>
                </a:solidFill>
              </a:rPr>
              <a:t>Diseño</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Arquitectura del Software</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Entregables:</a:t>
            </a:r>
            <a:endParaRPr/>
          </a:p>
          <a:p>
            <a:pPr indent="-228600" lvl="2" marL="1143000" rtl="0" algn="l">
              <a:lnSpc>
                <a:spcPct val="90000"/>
              </a:lnSpc>
              <a:spcBef>
                <a:spcPts val="500"/>
              </a:spcBef>
              <a:spcAft>
                <a:spcPts val="0"/>
              </a:spcAft>
              <a:buClr>
                <a:srgbClr val="313537"/>
              </a:buClr>
              <a:buSzPts val="2400"/>
              <a:buChar char="•"/>
            </a:pPr>
            <a:r>
              <a:rPr lang="es-ES" sz="2400">
                <a:solidFill>
                  <a:srgbClr val="313537"/>
                </a:solidFill>
              </a:rPr>
              <a:t>Diseño de alto nivel (HLD)</a:t>
            </a:r>
            <a:endParaRPr/>
          </a:p>
          <a:p>
            <a:pPr indent="-228600" lvl="2" marL="1143000" rtl="0" algn="l">
              <a:lnSpc>
                <a:spcPct val="90000"/>
              </a:lnSpc>
              <a:spcBef>
                <a:spcPts val="500"/>
              </a:spcBef>
              <a:spcAft>
                <a:spcPts val="0"/>
              </a:spcAft>
              <a:buClr>
                <a:srgbClr val="313537"/>
              </a:buClr>
              <a:buSzPts val="2400"/>
              <a:buChar char="•"/>
            </a:pPr>
            <a:r>
              <a:rPr b="0" i="0" lang="es-ES" sz="2400">
                <a:solidFill>
                  <a:srgbClr val="313537"/>
                </a:solidFill>
                <a:latin typeface="Arial"/>
                <a:ea typeface="Arial"/>
                <a:cs typeface="Arial"/>
                <a:sym typeface="Arial"/>
              </a:rPr>
              <a:t>Diseño de bajo nivel (LLD)</a:t>
            </a:r>
            <a:endParaRPr sz="2400">
              <a:solidFill>
                <a:srgbClr val="134A6E"/>
              </a:solidFill>
            </a:endParaRPr>
          </a:p>
        </p:txBody>
      </p:sp>
      <p:pic>
        <p:nvPicPr>
          <p:cNvPr id="154" name="Google Shape;154;p6"/>
          <p:cNvPicPr preferRelativeResize="0"/>
          <p:nvPr/>
        </p:nvPicPr>
        <p:blipFill rotWithShape="1">
          <a:blip r:embed="rId3">
            <a:alphaModFix/>
          </a:blip>
          <a:srcRect b="0" l="0" r="0" t="0"/>
          <a:stretch/>
        </p:blipFill>
        <p:spPr>
          <a:xfrm>
            <a:off x="6019800" y="4001294"/>
            <a:ext cx="4103914" cy="2734094"/>
          </a:xfrm>
          <a:prstGeom prst="rect">
            <a:avLst/>
          </a:prstGeom>
          <a:noFill/>
          <a:ln>
            <a:noFill/>
          </a:ln>
        </p:spPr>
      </p:pic>
      <p:pic>
        <p:nvPicPr>
          <p:cNvPr id="155" name="Google Shape;155;p6"/>
          <p:cNvPicPr preferRelativeResize="0"/>
          <p:nvPr/>
        </p:nvPicPr>
        <p:blipFill rotWithShape="1">
          <a:blip r:embed="rId4">
            <a:alphaModFix/>
          </a:blip>
          <a:srcRect b="0" l="0" r="0" t="0"/>
          <a:stretch/>
        </p:blipFill>
        <p:spPr>
          <a:xfrm>
            <a:off x="6401206" y="1898650"/>
            <a:ext cx="318002" cy="399890"/>
          </a:xfrm>
          <a:prstGeom prst="rect">
            <a:avLst/>
          </a:prstGeom>
          <a:noFill/>
          <a:ln>
            <a:noFill/>
          </a:ln>
        </p:spPr>
      </p:pic>
      <p:pic>
        <p:nvPicPr>
          <p:cNvPr id="156" name="Google Shape;156;p6"/>
          <p:cNvPicPr preferRelativeResize="0"/>
          <p:nvPr/>
        </p:nvPicPr>
        <p:blipFill rotWithShape="1">
          <a:blip r:embed="rId4">
            <a:alphaModFix/>
          </a:blip>
          <a:srcRect b="0" l="0" r="0" t="0"/>
          <a:stretch/>
        </p:blipFill>
        <p:spPr>
          <a:xfrm>
            <a:off x="518480" y="1898650"/>
            <a:ext cx="318002" cy="39989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Desarrollo y patrones de diseño de software</a:t>
            </a:r>
            <a:endParaRPr/>
          </a:p>
        </p:txBody>
      </p:sp>
      <p:sp>
        <p:nvSpPr>
          <p:cNvPr id="162" name="Google Shape;162;p7"/>
          <p:cNvSpPr txBox="1"/>
          <p:nvPr>
            <p:ph idx="1" type="body"/>
          </p:nvPr>
        </p:nvSpPr>
        <p:spPr>
          <a:xfrm>
            <a:off x="838200" y="1825625"/>
            <a:ext cx="5181600" cy="4667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134A6E"/>
              </a:buClr>
              <a:buSzPts val="2800"/>
              <a:buNone/>
            </a:pPr>
            <a:r>
              <a:rPr b="1" lang="es-ES" u="sng"/>
              <a:t>Implementación</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Es la fase del desarrollo propiamente dicho del software.</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Es la fase más extensa del proyecto.</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Entregable según proyecto:</a:t>
            </a:r>
            <a:endParaRPr/>
          </a:p>
          <a:p>
            <a:pPr indent="-228600" lvl="2" marL="1143000" rtl="0" algn="l">
              <a:lnSpc>
                <a:spcPct val="90000"/>
              </a:lnSpc>
              <a:spcBef>
                <a:spcPts val="500"/>
              </a:spcBef>
              <a:spcAft>
                <a:spcPts val="0"/>
              </a:spcAft>
              <a:buClr>
                <a:srgbClr val="313537"/>
              </a:buClr>
              <a:buSzPts val="2400"/>
              <a:buChar char="•"/>
            </a:pPr>
            <a:r>
              <a:rPr lang="es-ES" sz="2400">
                <a:solidFill>
                  <a:srgbClr val="313537"/>
                </a:solidFill>
              </a:rPr>
              <a:t>Código fuente</a:t>
            </a:r>
            <a:endParaRPr/>
          </a:p>
          <a:p>
            <a:pPr indent="-228600" lvl="2" marL="1143000" rtl="0" algn="l">
              <a:lnSpc>
                <a:spcPct val="90000"/>
              </a:lnSpc>
              <a:spcBef>
                <a:spcPts val="500"/>
              </a:spcBef>
              <a:spcAft>
                <a:spcPts val="0"/>
              </a:spcAft>
              <a:buClr>
                <a:srgbClr val="313537"/>
              </a:buClr>
              <a:buSzPts val="2400"/>
              <a:buChar char="•"/>
            </a:pPr>
            <a:r>
              <a:rPr lang="es-ES" sz="2400">
                <a:solidFill>
                  <a:srgbClr val="313537"/>
                </a:solidFill>
              </a:rPr>
              <a:t>Ejecutable</a:t>
            </a:r>
            <a:endParaRPr/>
          </a:p>
          <a:p>
            <a:pPr indent="-228600" lvl="2" marL="1143000" rtl="0" algn="l">
              <a:lnSpc>
                <a:spcPct val="90000"/>
              </a:lnSpc>
              <a:spcBef>
                <a:spcPts val="500"/>
              </a:spcBef>
              <a:spcAft>
                <a:spcPts val="0"/>
              </a:spcAft>
              <a:buClr>
                <a:srgbClr val="313537"/>
              </a:buClr>
              <a:buSzPts val="2400"/>
              <a:buChar char="•"/>
            </a:pPr>
            <a:r>
              <a:rPr lang="es-ES" sz="2400">
                <a:solidFill>
                  <a:srgbClr val="313537"/>
                </a:solidFill>
              </a:rPr>
              <a:t>Imagen</a:t>
            </a:r>
            <a:endParaRPr sz="2400">
              <a:solidFill>
                <a:srgbClr val="313537"/>
              </a:solidFill>
            </a:endParaRPr>
          </a:p>
        </p:txBody>
      </p:sp>
      <p:sp>
        <p:nvSpPr>
          <p:cNvPr id="163" name="Google Shape;163;p7"/>
          <p:cNvSpPr txBox="1"/>
          <p:nvPr>
            <p:ph idx="2" type="body"/>
          </p:nvPr>
        </p:nvSpPr>
        <p:spPr>
          <a:xfrm>
            <a:off x="6719208" y="1825625"/>
            <a:ext cx="5181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134A6E"/>
              </a:buClr>
              <a:buSzPts val="2800"/>
              <a:buNone/>
            </a:pPr>
            <a:r>
              <a:rPr b="1" lang="es-ES" u="sng">
                <a:solidFill>
                  <a:srgbClr val="134A6E"/>
                </a:solidFill>
              </a:rPr>
              <a:t>Testing</a:t>
            </a:r>
            <a:endParaRPr b="1" u="sng">
              <a:solidFill>
                <a:srgbClr val="134A6E"/>
              </a:solidFill>
            </a:endParaRPr>
          </a:p>
          <a:p>
            <a:pPr indent="-228600" lvl="1" marL="685800" rtl="0" algn="l">
              <a:lnSpc>
                <a:spcPct val="90000"/>
              </a:lnSpc>
              <a:spcBef>
                <a:spcPts val="500"/>
              </a:spcBef>
              <a:spcAft>
                <a:spcPts val="0"/>
              </a:spcAft>
              <a:buClr>
                <a:srgbClr val="313537"/>
              </a:buClr>
              <a:buSzPts val="2400"/>
              <a:buChar char="•"/>
            </a:pPr>
            <a:r>
              <a:rPr lang="es-ES" sz="2400">
                <a:solidFill>
                  <a:srgbClr val="313537"/>
                </a:solidFill>
              </a:rPr>
              <a:t>Instalación en un entorno de pruebas.</a:t>
            </a:r>
            <a:endParaRPr/>
          </a:p>
          <a:p>
            <a:pPr indent="-228600" lvl="1" marL="685800" rtl="0" algn="l">
              <a:lnSpc>
                <a:spcPct val="90000"/>
              </a:lnSpc>
              <a:spcBef>
                <a:spcPts val="500"/>
              </a:spcBef>
              <a:spcAft>
                <a:spcPts val="0"/>
              </a:spcAft>
              <a:buClr>
                <a:srgbClr val="313537"/>
              </a:buClr>
              <a:buSzPts val="2400"/>
              <a:buChar char="•"/>
            </a:pPr>
            <a:r>
              <a:rPr lang="es-ES" sz="2400">
                <a:solidFill>
                  <a:srgbClr val="313537"/>
                </a:solidFill>
              </a:rPr>
              <a:t>Tipos de pruebas:</a:t>
            </a:r>
            <a:endParaRPr/>
          </a:p>
          <a:p>
            <a:pPr indent="-228600" lvl="2" marL="1143000" rtl="0" algn="l">
              <a:lnSpc>
                <a:spcPct val="90000"/>
              </a:lnSpc>
              <a:spcBef>
                <a:spcPts val="500"/>
              </a:spcBef>
              <a:spcAft>
                <a:spcPts val="0"/>
              </a:spcAft>
              <a:buClr>
                <a:srgbClr val="313537"/>
              </a:buClr>
              <a:buSzPts val="2400"/>
              <a:buChar char="•"/>
            </a:pPr>
            <a:r>
              <a:rPr lang="es-ES" sz="2400">
                <a:solidFill>
                  <a:srgbClr val="313537"/>
                </a:solidFill>
              </a:rPr>
              <a:t>Funcionales</a:t>
            </a:r>
            <a:endParaRPr/>
          </a:p>
          <a:p>
            <a:pPr indent="-228600" lvl="2" marL="1143000" rtl="0" algn="l">
              <a:lnSpc>
                <a:spcPct val="90000"/>
              </a:lnSpc>
              <a:spcBef>
                <a:spcPts val="500"/>
              </a:spcBef>
              <a:spcAft>
                <a:spcPts val="0"/>
              </a:spcAft>
              <a:buClr>
                <a:srgbClr val="313537"/>
              </a:buClr>
              <a:buSzPts val="2400"/>
              <a:buChar char="•"/>
            </a:pPr>
            <a:r>
              <a:rPr lang="es-ES" sz="2400">
                <a:solidFill>
                  <a:srgbClr val="313537"/>
                </a:solidFill>
              </a:rPr>
              <a:t>Integración</a:t>
            </a:r>
            <a:endParaRPr/>
          </a:p>
          <a:p>
            <a:pPr indent="-228600" lvl="2" marL="1143000" rtl="0" algn="l">
              <a:lnSpc>
                <a:spcPct val="90000"/>
              </a:lnSpc>
              <a:spcBef>
                <a:spcPts val="500"/>
              </a:spcBef>
              <a:spcAft>
                <a:spcPts val="0"/>
              </a:spcAft>
              <a:buClr>
                <a:srgbClr val="313537"/>
              </a:buClr>
              <a:buSzPts val="2400"/>
              <a:buChar char="•"/>
            </a:pPr>
            <a:r>
              <a:rPr lang="es-ES" sz="2400">
                <a:solidFill>
                  <a:srgbClr val="313537"/>
                </a:solidFill>
              </a:rPr>
              <a:t>Rendimiento</a:t>
            </a:r>
            <a:endParaRPr/>
          </a:p>
          <a:p>
            <a:pPr indent="-228600" lvl="2" marL="1143000" rtl="0" algn="l">
              <a:lnSpc>
                <a:spcPct val="90000"/>
              </a:lnSpc>
              <a:spcBef>
                <a:spcPts val="500"/>
              </a:spcBef>
              <a:spcAft>
                <a:spcPts val="0"/>
              </a:spcAft>
              <a:buClr>
                <a:srgbClr val="313537"/>
              </a:buClr>
              <a:buSzPts val="2400"/>
              <a:buChar char="•"/>
            </a:pPr>
            <a:r>
              <a:rPr lang="es-ES" sz="2400">
                <a:solidFill>
                  <a:srgbClr val="313537"/>
                </a:solidFill>
              </a:rPr>
              <a:t>Seguridad</a:t>
            </a:r>
            <a:endParaRPr/>
          </a:p>
          <a:p>
            <a:pPr indent="-76200" lvl="1" marL="685800" rtl="0" algn="l">
              <a:lnSpc>
                <a:spcPct val="90000"/>
              </a:lnSpc>
              <a:spcBef>
                <a:spcPts val="500"/>
              </a:spcBef>
              <a:spcAft>
                <a:spcPts val="0"/>
              </a:spcAft>
              <a:buClr>
                <a:srgbClr val="68776C"/>
              </a:buClr>
              <a:buSzPts val="2400"/>
              <a:buNone/>
            </a:pPr>
            <a:r>
              <a:t/>
            </a:r>
            <a:endParaRPr sz="2400">
              <a:solidFill>
                <a:srgbClr val="134A6E"/>
              </a:solidFill>
            </a:endParaRPr>
          </a:p>
        </p:txBody>
      </p:sp>
      <p:pic>
        <p:nvPicPr>
          <p:cNvPr id="164" name="Google Shape;164;p7"/>
          <p:cNvPicPr preferRelativeResize="0"/>
          <p:nvPr/>
        </p:nvPicPr>
        <p:blipFill rotWithShape="1">
          <a:blip r:embed="rId3">
            <a:alphaModFix/>
          </a:blip>
          <a:srcRect b="0" l="0" r="0" t="0"/>
          <a:stretch/>
        </p:blipFill>
        <p:spPr>
          <a:xfrm>
            <a:off x="6401206" y="1898650"/>
            <a:ext cx="318002" cy="399890"/>
          </a:xfrm>
          <a:prstGeom prst="rect">
            <a:avLst/>
          </a:prstGeom>
          <a:noFill/>
          <a:ln>
            <a:noFill/>
          </a:ln>
        </p:spPr>
      </p:pic>
      <p:pic>
        <p:nvPicPr>
          <p:cNvPr id="165" name="Google Shape;165;p7"/>
          <p:cNvPicPr preferRelativeResize="0"/>
          <p:nvPr/>
        </p:nvPicPr>
        <p:blipFill rotWithShape="1">
          <a:blip r:embed="rId3">
            <a:alphaModFix/>
          </a:blip>
          <a:srcRect b="0" l="0" r="0" t="0"/>
          <a:stretch/>
        </p:blipFill>
        <p:spPr>
          <a:xfrm>
            <a:off x="518480" y="1898650"/>
            <a:ext cx="318002" cy="399890"/>
          </a:xfrm>
          <a:prstGeom prst="rect">
            <a:avLst/>
          </a:prstGeom>
          <a:noFill/>
          <a:ln>
            <a:noFill/>
          </a:ln>
        </p:spPr>
      </p:pic>
      <p:pic>
        <p:nvPicPr>
          <p:cNvPr descr="Free vector hand drawn devops illustration" id="166" name="Google Shape;166;p7"/>
          <p:cNvPicPr preferRelativeResize="0"/>
          <p:nvPr/>
        </p:nvPicPr>
        <p:blipFill rotWithShape="1">
          <a:blip r:embed="rId4">
            <a:alphaModFix/>
          </a:blip>
          <a:srcRect b="5595" l="8618" r="8617" t="5595"/>
          <a:stretch/>
        </p:blipFill>
        <p:spPr>
          <a:xfrm>
            <a:off x="5196925" y="4273489"/>
            <a:ext cx="2408562" cy="258451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Desarrollo y patrones de diseño de software</a:t>
            </a:r>
            <a:endParaRPr/>
          </a:p>
        </p:txBody>
      </p:sp>
      <p:sp>
        <p:nvSpPr>
          <p:cNvPr id="172" name="Google Shape;172;p8"/>
          <p:cNvSpPr txBox="1"/>
          <p:nvPr>
            <p:ph idx="1" type="body"/>
          </p:nvPr>
        </p:nvSpPr>
        <p:spPr>
          <a:xfrm>
            <a:off x="838200" y="1825625"/>
            <a:ext cx="5181600" cy="4667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134A6E"/>
              </a:buClr>
              <a:buSzPts val="2800"/>
              <a:buNone/>
            </a:pPr>
            <a:r>
              <a:rPr b="1" lang="es-ES" u="sng"/>
              <a:t>Evolución</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Implementación en ambiente productivo</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Soporte al usuario</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Corrección de errores</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Identificación de mejoras</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Entregable</a:t>
            </a:r>
            <a:endParaRPr/>
          </a:p>
          <a:p>
            <a:pPr indent="-228600" lvl="2" marL="1143000" rtl="0" algn="l">
              <a:lnSpc>
                <a:spcPct val="90000"/>
              </a:lnSpc>
              <a:spcBef>
                <a:spcPts val="500"/>
              </a:spcBef>
              <a:spcAft>
                <a:spcPts val="0"/>
              </a:spcAft>
              <a:buClr>
                <a:srgbClr val="313537"/>
              </a:buClr>
              <a:buSzPts val="2400"/>
              <a:buChar char="•"/>
            </a:pPr>
            <a:r>
              <a:rPr lang="es-ES" sz="2400">
                <a:solidFill>
                  <a:srgbClr val="313537"/>
                </a:solidFill>
              </a:rPr>
              <a:t>Documento de cierre</a:t>
            </a:r>
            <a:endParaRPr sz="2400">
              <a:solidFill>
                <a:srgbClr val="313537"/>
              </a:solidFill>
            </a:endParaRPr>
          </a:p>
        </p:txBody>
      </p:sp>
      <p:pic>
        <p:nvPicPr>
          <p:cNvPr id="173" name="Google Shape;173;p8"/>
          <p:cNvPicPr preferRelativeResize="0"/>
          <p:nvPr/>
        </p:nvPicPr>
        <p:blipFill rotWithShape="1">
          <a:blip r:embed="rId3">
            <a:alphaModFix/>
          </a:blip>
          <a:srcRect b="0" l="0" r="0" t="0"/>
          <a:stretch/>
        </p:blipFill>
        <p:spPr>
          <a:xfrm>
            <a:off x="518480" y="1898650"/>
            <a:ext cx="318002" cy="399890"/>
          </a:xfrm>
          <a:prstGeom prst="rect">
            <a:avLst/>
          </a:prstGeom>
          <a:noFill/>
          <a:ln>
            <a:noFill/>
          </a:ln>
        </p:spPr>
      </p:pic>
      <p:pic>
        <p:nvPicPr>
          <p:cNvPr id="174" name="Google Shape;174;p8"/>
          <p:cNvPicPr preferRelativeResize="0"/>
          <p:nvPr/>
        </p:nvPicPr>
        <p:blipFill rotWithShape="1">
          <a:blip r:embed="rId4">
            <a:alphaModFix/>
          </a:blip>
          <a:srcRect b="0" l="0" r="0" t="0"/>
          <a:stretch/>
        </p:blipFill>
        <p:spPr>
          <a:xfrm>
            <a:off x="6491922" y="1690688"/>
            <a:ext cx="5181598" cy="3452064"/>
          </a:xfrm>
          <a:prstGeom prst="rect">
            <a:avLst/>
          </a:prstGeom>
          <a:noFill/>
          <a:ln>
            <a:noFill/>
          </a:ln>
        </p:spPr>
      </p:pic>
      <p:sp>
        <p:nvSpPr>
          <p:cNvPr id="175" name="Google Shape;175;p8"/>
          <p:cNvSpPr txBox="1"/>
          <p:nvPr/>
        </p:nvSpPr>
        <p:spPr>
          <a:xfrm>
            <a:off x="838200" y="4995182"/>
            <a:ext cx="1051560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C95F45"/>
              </a:buClr>
              <a:buSzPts val="2400"/>
              <a:buFont typeface="Arial"/>
              <a:buNone/>
            </a:pPr>
            <a:r>
              <a:rPr b="1" lang="es-ES" sz="2400">
                <a:solidFill>
                  <a:srgbClr val="C95F45"/>
                </a:solidFill>
                <a:latin typeface="Arial"/>
                <a:ea typeface="Arial"/>
                <a:cs typeface="Arial"/>
                <a:sym typeface="Arial"/>
              </a:rPr>
              <a:t>Según el proyecto, el ciclo puede comenzar nuevamente para desarrollar nuevas versiones del software.</a:t>
            </a:r>
            <a:endParaRPr b="1" sz="2400">
              <a:solidFill>
                <a:srgbClr val="C95F45"/>
              </a:solidFill>
              <a:latin typeface="Arial"/>
              <a:ea typeface="Arial"/>
              <a:cs typeface="Arial"/>
              <a:sym typeface="Arial"/>
            </a:endParaRPr>
          </a:p>
        </p:txBody>
      </p:sp>
      <p:sp>
        <p:nvSpPr>
          <p:cNvPr id="176" name="Google Shape;176;p8"/>
          <p:cNvSpPr/>
          <p:nvPr/>
        </p:nvSpPr>
        <p:spPr>
          <a:xfrm>
            <a:off x="1251449" y="5147089"/>
            <a:ext cx="330608" cy="975938"/>
          </a:xfrm>
          <a:prstGeom prst="leftBrace">
            <a:avLst>
              <a:gd fmla="val 8333" name="adj1"/>
              <a:gd fmla="val 50000" name="adj2"/>
            </a:avLst>
          </a:prstGeom>
          <a:noFill/>
          <a:ln cap="flat" cmpd="sng" w="28575">
            <a:solidFill>
              <a:srgbClr val="134A6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8"/>
          <p:cNvSpPr/>
          <p:nvPr/>
        </p:nvSpPr>
        <p:spPr>
          <a:xfrm flipH="1">
            <a:off x="10784848" y="5186295"/>
            <a:ext cx="311404" cy="943338"/>
          </a:xfrm>
          <a:prstGeom prst="leftBrace">
            <a:avLst>
              <a:gd fmla="val 8333" name="adj1"/>
              <a:gd fmla="val 50000" name="adj2"/>
            </a:avLst>
          </a:prstGeom>
          <a:noFill/>
          <a:ln cap="flat" cmpd="sng" w="28575">
            <a:solidFill>
              <a:srgbClr val="134A6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9"/>
          <p:cNvPicPr preferRelativeResize="0"/>
          <p:nvPr/>
        </p:nvPicPr>
        <p:blipFill rotWithShape="1">
          <a:blip r:embed="rId3">
            <a:alphaModFix/>
          </a:blip>
          <a:srcRect b="12086" l="11166" r="12353" t="19373"/>
          <a:stretch/>
        </p:blipFill>
        <p:spPr>
          <a:xfrm>
            <a:off x="9386251" y="5632315"/>
            <a:ext cx="2093514" cy="797146"/>
          </a:xfrm>
          <a:prstGeom prst="rect">
            <a:avLst/>
          </a:prstGeom>
          <a:noFill/>
          <a:ln>
            <a:noFill/>
          </a:ln>
        </p:spPr>
      </p:pic>
      <p:sp>
        <p:nvSpPr>
          <p:cNvPr id="183" name="Google Shape;183;p9"/>
          <p:cNvSpPr txBox="1"/>
          <p:nvPr/>
        </p:nvSpPr>
        <p:spPr>
          <a:xfrm>
            <a:off x="5110494" y="1663742"/>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68776C"/>
                </a:solidFill>
                <a:latin typeface="Arial"/>
                <a:ea typeface="Arial"/>
                <a:cs typeface="Arial"/>
                <a:sym typeface="Arial"/>
              </a:rPr>
              <a:t>Desarrollo y patrones de diseño de software</a:t>
            </a:r>
            <a:endParaRPr sz="2400">
              <a:solidFill>
                <a:srgbClr val="68776C"/>
              </a:solidFill>
              <a:latin typeface="Arial"/>
              <a:ea typeface="Arial"/>
              <a:cs typeface="Arial"/>
              <a:sym typeface="Arial"/>
            </a:endParaRPr>
          </a:p>
        </p:txBody>
      </p:sp>
      <p:pic>
        <p:nvPicPr>
          <p:cNvPr id="184" name="Google Shape;184;p9"/>
          <p:cNvPicPr preferRelativeResize="0"/>
          <p:nvPr/>
        </p:nvPicPr>
        <p:blipFill rotWithShape="1">
          <a:blip r:embed="rId4">
            <a:alphaModFix/>
          </a:blip>
          <a:srcRect b="0" l="0" r="0" t="0"/>
          <a:stretch/>
        </p:blipFill>
        <p:spPr>
          <a:xfrm>
            <a:off x="4741817" y="1731733"/>
            <a:ext cx="321338" cy="347507"/>
          </a:xfrm>
          <a:prstGeom prst="rect">
            <a:avLst/>
          </a:prstGeom>
          <a:noFill/>
          <a:ln>
            <a:noFill/>
          </a:ln>
        </p:spPr>
      </p:pic>
      <p:sp>
        <p:nvSpPr>
          <p:cNvPr id="185" name="Google Shape;185;p9"/>
          <p:cNvSpPr/>
          <p:nvPr/>
        </p:nvSpPr>
        <p:spPr>
          <a:xfrm>
            <a:off x="0" y="0"/>
            <a:ext cx="4310743" cy="6858000"/>
          </a:xfrm>
          <a:prstGeom prst="rect">
            <a:avLst/>
          </a:prstGeom>
          <a:solidFill>
            <a:srgbClr val="2780B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6" name="Google Shape;186;p9"/>
          <p:cNvSpPr txBox="1"/>
          <p:nvPr/>
        </p:nvSpPr>
        <p:spPr>
          <a:xfrm>
            <a:off x="300446" y="1813556"/>
            <a:ext cx="444137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4000">
                <a:solidFill>
                  <a:schemeClr val="lt1"/>
                </a:solidFill>
                <a:latin typeface="Arial"/>
                <a:ea typeface="Arial"/>
                <a:cs typeface="Arial"/>
                <a:sym typeface="Arial"/>
              </a:rPr>
              <a:t>Temario</a:t>
            </a:r>
            <a:endParaRPr b="1" sz="1800">
              <a:solidFill>
                <a:schemeClr val="lt1"/>
              </a:solidFill>
              <a:latin typeface="Arial"/>
              <a:ea typeface="Arial"/>
              <a:cs typeface="Arial"/>
              <a:sym typeface="Arial"/>
            </a:endParaRPr>
          </a:p>
        </p:txBody>
      </p:sp>
      <p:sp>
        <p:nvSpPr>
          <p:cNvPr id="187" name="Google Shape;187;p9"/>
          <p:cNvSpPr/>
          <p:nvPr/>
        </p:nvSpPr>
        <p:spPr>
          <a:xfrm>
            <a:off x="300446" y="5226440"/>
            <a:ext cx="768486" cy="116731"/>
          </a:xfrm>
          <a:prstGeom prst="rect">
            <a:avLst/>
          </a:prstGeom>
          <a:solidFill>
            <a:srgbClr val="BEB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 name="Google Shape;188;p9"/>
          <p:cNvSpPr txBox="1"/>
          <p:nvPr/>
        </p:nvSpPr>
        <p:spPr>
          <a:xfrm>
            <a:off x="5110494" y="2621631"/>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b="1" lang="es-ES" sz="2400">
                <a:solidFill>
                  <a:srgbClr val="2782BB"/>
                </a:solidFill>
                <a:latin typeface="Arial"/>
                <a:ea typeface="Arial"/>
                <a:cs typeface="Arial"/>
                <a:sym typeface="Arial"/>
              </a:rPr>
              <a:t>Control de versiones con GIT</a:t>
            </a:r>
            <a:endParaRPr b="1" sz="2400">
              <a:solidFill>
                <a:srgbClr val="2782BB"/>
              </a:solidFill>
              <a:latin typeface="Arial"/>
              <a:ea typeface="Arial"/>
              <a:cs typeface="Arial"/>
              <a:sym typeface="Arial"/>
            </a:endParaRPr>
          </a:p>
        </p:txBody>
      </p:sp>
      <p:pic>
        <p:nvPicPr>
          <p:cNvPr id="189" name="Google Shape;189;p9"/>
          <p:cNvPicPr preferRelativeResize="0"/>
          <p:nvPr/>
        </p:nvPicPr>
        <p:blipFill rotWithShape="1">
          <a:blip r:embed="rId4">
            <a:alphaModFix/>
          </a:blip>
          <a:srcRect b="0" l="0" r="0" t="0"/>
          <a:stretch/>
        </p:blipFill>
        <p:spPr>
          <a:xfrm>
            <a:off x="4741817" y="2678709"/>
            <a:ext cx="321338" cy="347507"/>
          </a:xfrm>
          <a:prstGeom prst="rect">
            <a:avLst/>
          </a:prstGeom>
          <a:noFill/>
          <a:ln>
            <a:noFill/>
          </a:ln>
        </p:spPr>
      </p:pic>
      <p:sp>
        <p:nvSpPr>
          <p:cNvPr id="190" name="Google Shape;190;p9"/>
          <p:cNvSpPr txBox="1"/>
          <p:nvPr/>
        </p:nvSpPr>
        <p:spPr>
          <a:xfrm>
            <a:off x="5110494" y="3594111"/>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68776C"/>
                </a:solidFill>
                <a:latin typeface="Arial"/>
                <a:ea typeface="Arial"/>
                <a:cs typeface="Arial"/>
                <a:sym typeface="Arial"/>
              </a:rPr>
              <a:t>Conceptos básicos de codificación</a:t>
            </a:r>
            <a:endParaRPr sz="2400">
              <a:solidFill>
                <a:srgbClr val="68776C"/>
              </a:solidFill>
              <a:latin typeface="Arial"/>
              <a:ea typeface="Arial"/>
              <a:cs typeface="Arial"/>
              <a:sym typeface="Arial"/>
            </a:endParaRPr>
          </a:p>
        </p:txBody>
      </p:sp>
      <p:pic>
        <p:nvPicPr>
          <p:cNvPr id="191" name="Google Shape;191;p9"/>
          <p:cNvPicPr preferRelativeResize="0"/>
          <p:nvPr/>
        </p:nvPicPr>
        <p:blipFill rotWithShape="1">
          <a:blip r:embed="rId4">
            <a:alphaModFix/>
          </a:blip>
          <a:srcRect b="0" l="0" r="0" t="0"/>
          <a:stretch/>
        </p:blipFill>
        <p:spPr>
          <a:xfrm>
            <a:off x="4741817" y="3651189"/>
            <a:ext cx="321338" cy="347507"/>
          </a:xfrm>
          <a:prstGeom prst="rect">
            <a:avLst/>
          </a:prstGeom>
          <a:noFill/>
          <a:ln>
            <a:noFill/>
          </a:ln>
        </p:spPr>
      </p:pic>
      <p:sp>
        <p:nvSpPr>
          <p:cNvPr id="192" name="Google Shape;192;p9"/>
          <p:cNvSpPr txBox="1"/>
          <p:nvPr/>
        </p:nvSpPr>
        <p:spPr>
          <a:xfrm>
            <a:off x="5110494" y="4547928"/>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68776C"/>
                </a:solidFill>
                <a:latin typeface="Arial"/>
                <a:ea typeface="Arial"/>
                <a:cs typeface="Arial"/>
                <a:sym typeface="Arial"/>
              </a:rPr>
              <a:t>Formato de los datos</a:t>
            </a:r>
            <a:endParaRPr sz="2400">
              <a:solidFill>
                <a:srgbClr val="68776C"/>
              </a:solidFill>
              <a:latin typeface="Arial"/>
              <a:ea typeface="Arial"/>
              <a:cs typeface="Arial"/>
              <a:sym typeface="Arial"/>
            </a:endParaRPr>
          </a:p>
        </p:txBody>
      </p:sp>
      <p:pic>
        <p:nvPicPr>
          <p:cNvPr id="193" name="Google Shape;193;p9"/>
          <p:cNvPicPr preferRelativeResize="0"/>
          <p:nvPr/>
        </p:nvPicPr>
        <p:blipFill rotWithShape="1">
          <a:blip r:embed="rId4">
            <a:alphaModFix/>
          </a:blip>
          <a:srcRect b="0" l="0" r="0" t="0"/>
          <a:stretch/>
        </p:blipFill>
        <p:spPr>
          <a:xfrm>
            <a:off x="4741817" y="4605006"/>
            <a:ext cx="321338" cy="34750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Control de versiones con GIT</a:t>
            </a:r>
            <a:endParaRPr/>
          </a:p>
        </p:txBody>
      </p:sp>
      <p:sp>
        <p:nvSpPr>
          <p:cNvPr id="199" name="Google Shape;199;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313537"/>
              </a:buClr>
              <a:buSzPts val="2800"/>
              <a:buNone/>
            </a:pPr>
            <a:r>
              <a:rPr b="0" i="0" lang="es-ES">
                <a:solidFill>
                  <a:srgbClr val="313537"/>
                </a:solidFill>
                <a:latin typeface="Arial"/>
                <a:ea typeface="Arial"/>
                <a:cs typeface="Arial"/>
                <a:sym typeface="Arial"/>
              </a:rPr>
              <a:t>Git es un SCM (</a:t>
            </a:r>
            <a:r>
              <a:rPr lang="es-ES">
                <a:solidFill>
                  <a:srgbClr val="313537"/>
                </a:solidFill>
              </a:rPr>
              <a:t>s</a:t>
            </a:r>
            <a:r>
              <a:rPr b="0" i="0" lang="es-ES">
                <a:solidFill>
                  <a:srgbClr val="313537"/>
                </a:solidFill>
                <a:latin typeface="Arial"/>
                <a:ea typeface="Arial"/>
                <a:cs typeface="Arial"/>
                <a:sym typeface="Arial"/>
              </a:rPr>
              <a:t>ource code management) o sistema de control de versiones</a:t>
            </a:r>
            <a:endParaRPr/>
          </a:p>
          <a:p>
            <a:pPr indent="-228600" lvl="1" marL="685800" rtl="0" algn="l">
              <a:lnSpc>
                <a:spcPct val="90000"/>
              </a:lnSpc>
              <a:spcBef>
                <a:spcPts val="500"/>
              </a:spcBef>
              <a:spcAft>
                <a:spcPts val="0"/>
              </a:spcAft>
              <a:buClr>
                <a:srgbClr val="313537"/>
              </a:buClr>
              <a:buSzPts val="2400"/>
              <a:buChar char="•"/>
            </a:pPr>
            <a:r>
              <a:rPr b="0" i="0" lang="es-ES">
                <a:solidFill>
                  <a:srgbClr val="313537"/>
                </a:solidFill>
                <a:latin typeface="Arial"/>
                <a:ea typeface="Arial"/>
                <a:cs typeface="Arial"/>
                <a:sym typeface="Arial"/>
              </a:rPr>
              <a:t>Es de código abierto.</a:t>
            </a:r>
            <a:endParaRPr/>
          </a:p>
          <a:p>
            <a:pPr indent="-228600" lvl="1" marL="685800" rtl="0" algn="l">
              <a:lnSpc>
                <a:spcPct val="90000"/>
              </a:lnSpc>
              <a:spcBef>
                <a:spcPts val="500"/>
              </a:spcBef>
              <a:spcAft>
                <a:spcPts val="0"/>
              </a:spcAft>
              <a:buClr>
                <a:srgbClr val="313537"/>
              </a:buClr>
              <a:buSzPts val="2400"/>
              <a:buChar char="•"/>
            </a:pPr>
            <a:r>
              <a:rPr b="0" i="0" lang="es-ES">
                <a:solidFill>
                  <a:srgbClr val="313537"/>
                </a:solidFill>
                <a:latin typeface="Arial"/>
                <a:ea typeface="Arial"/>
                <a:cs typeface="Arial"/>
                <a:sym typeface="Arial"/>
              </a:rPr>
              <a:t>Maneja todo tipo de proyectos.</a:t>
            </a:r>
            <a:endParaRPr/>
          </a:p>
          <a:p>
            <a:pPr indent="-228600" lvl="1" marL="685800" rtl="0" algn="l">
              <a:lnSpc>
                <a:spcPct val="90000"/>
              </a:lnSpc>
              <a:spcBef>
                <a:spcPts val="500"/>
              </a:spcBef>
              <a:spcAft>
                <a:spcPts val="0"/>
              </a:spcAft>
              <a:buClr>
                <a:srgbClr val="313537"/>
              </a:buClr>
              <a:buSzPts val="2400"/>
              <a:buChar char="•"/>
            </a:pPr>
            <a:r>
              <a:rPr b="0" i="0" lang="es-ES">
                <a:solidFill>
                  <a:srgbClr val="313537"/>
                </a:solidFill>
                <a:latin typeface="Arial"/>
                <a:ea typeface="Arial"/>
                <a:cs typeface="Arial"/>
                <a:sym typeface="Arial"/>
              </a:rPr>
              <a:t>Distribuido.</a:t>
            </a:r>
            <a:endParaRPr/>
          </a:p>
          <a:p>
            <a:pPr indent="-228600" lvl="1" marL="685800" rtl="0" algn="l">
              <a:lnSpc>
                <a:spcPct val="90000"/>
              </a:lnSpc>
              <a:spcBef>
                <a:spcPts val="500"/>
              </a:spcBef>
              <a:spcAft>
                <a:spcPts val="0"/>
              </a:spcAft>
              <a:buClr>
                <a:srgbClr val="313537"/>
              </a:buClr>
              <a:buSzPts val="2400"/>
              <a:buChar char="•"/>
            </a:pPr>
            <a:r>
              <a:rPr b="0" i="0" lang="es-ES">
                <a:solidFill>
                  <a:srgbClr val="313537"/>
                </a:solidFill>
                <a:latin typeface="Arial"/>
                <a:ea typeface="Arial"/>
                <a:cs typeface="Arial"/>
                <a:sym typeface="Arial"/>
              </a:rPr>
              <a:t>Rápido.</a:t>
            </a:r>
            <a:endParaRPr/>
          </a:p>
          <a:p>
            <a:pPr indent="-228600" lvl="1" marL="685800" rtl="0" algn="l">
              <a:lnSpc>
                <a:spcPct val="90000"/>
              </a:lnSpc>
              <a:spcBef>
                <a:spcPts val="500"/>
              </a:spcBef>
              <a:spcAft>
                <a:spcPts val="0"/>
              </a:spcAft>
              <a:buClr>
                <a:srgbClr val="313537"/>
              </a:buClr>
              <a:buSzPts val="2400"/>
              <a:buChar char="•"/>
            </a:pPr>
            <a:r>
              <a:rPr b="0" i="0" lang="es-ES">
                <a:solidFill>
                  <a:srgbClr val="313537"/>
                </a:solidFill>
                <a:latin typeface="Arial"/>
                <a:ea typeface="Arial"/>
                <a:cs typeface="Arial"/>
                <a:sym typeface="Arial"/>
              </a:rPr>
              <a:t>Flexible.</a:t>
            </a:r>
            <a:endParaRPr/>
          </a:p>
        </p:txBody>
      </p:sp>
      <p:pic>
        <p:nvPicPr>
          <p:cNvPr id="200" name="Google Shape;200;p10"/>
          <p:cNvPicPr preferRelativeResize="0"/>
          <p:nvPr/>
        </p:nvPicPr>
        <p:blipFill rotWithShape="1">
          <a:blip r:embed="rId3">
            <a:alphaModFix/>
          </a:blip>
          <a:srcRect b="0" l="0" r="0" t="0"/>
          <a:stretch/>
        </p:blipFill>
        <p:spPr>
          <a:xfrm>
            <a:off x="6299200" y="2017479"/>
            <a:ext cx="5892800" cy="3802295"/>
          </a:xfrm>
          <a:prstGeom prst="rect">
            <a:avLst/>
          </a:prstGeom>
          <a:noFill/>
          <a:ln>
            <a:noFill/>
          </a:ln>
        </p:spPr>
      </p:pic>
      <p:pic>
        <p:nvPicPr>
          <p:cNvPr id="201" name="Google Shape;201;p10"/>
          <p:cNvPicPr preferRelativeResize="0"/>
          <p:nvPr/>
        </p:nvPicPr>
        <p:blipFill rotWithShape="1">
          <a:blip r:embed="rId4">
            <a:alphaModFix/>
          </a:blip>
          <a:srcRect b="0" l="0" r="0" t="0"/>
          <a:stretch/>
        </p:blipFill>
        <p:spPr>
          <a:xfrm>
            <a:off x="518480" y="1898650"/>
            <a:ext cx="318002" cy="39989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Control de versiones con GIT</a:t>
            </a:r>
            <a:endParaRPr/>
          </a:p>
        </p:txBody>
      </p:sp>
      <p:sp>
        <p:nvSpPr>
          <p:cNvPr id="207" name="Google Shape;207;p1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134A6E"/>
              </a:buClr>
              <a:buSzPts val="2800"/>
              <a:buNone/>
            </a:pPr>
            <a:r>
              <a:rPr b="1" lang="es-ES" u="sng">
                <a:solidFill>
                  <a:srgbClr val="134A6E"/>
                </a:solidFill>
              </a:rPr>
              <a:t>Estados principales</a:t>
            </a:r>
            <a:endParaRPr/>
          </a:p>
          <a:p>
            <a:pPr indent="-228600" lvl="0" marL="228600" rtl="0" algn="l">
              <a:lnSpc>
                <a:spcPct val="90000"/>
              </a:lnSpc>
              <a:spcBef>
                <a:spcPts val="1000"/>
              </a:spcBef>
              <a:spcAft>
                <a:spcPts val="0"/>
              </a:spcAft>
              <a:buClr>
                <a:srgbClr val="134A6E"/>
              </a:buClr>
              <a:buSzPts val="2800"/>
              <a:buChar char="•"/>
            </a:pPr>
            <a:r>
              <a:rPr lang="es-ES">
                <a:solidFill>
                  <a:srgbClr val="134A6E"/>
                </a:solidFill>
              </a:rPr>
              <a:t>Modificado</a:t>
            </a:r>
            <a:r>
              <a:rPr lang="es-ES">
                <a:solidFill>
                  <a:srgbClr val="313537"/>
                </a:solidFill>
              </a:rPr>
              <a:t>: un archivo tiene cambios.</a:t>
            </a:r>
            <a:endParaRPr/>
          </a:p>
          <a:p>
            <a:pPr indent="-228600" lvl="0" marL="228600" rtl="0" algn="l">
              <a:lnSpc>
                <a:spcPct val="90000"/>
              </a:lnSpc>
              <a:spcBef>
                <a:spcPts val="1000"/>
              </a:spcBef>
              <a:spcAft>
                <a:spcPts val="0"/>
              </a:spcAft>
              <a:buClr>
                <a:srgbClr val="134A6E"/>
              </a:buClr>
              <a:buSzPts val="2800"/>
              <a:buChar char="•"/>
            </a:pPr>
            <a:r>
              <a:rPr lang="es-ES">
                <a:solidFill>
                  <a:srgbClr val="134A6E"/>
                </a:solidFill>
              </a:rPr>
              <a:t>Preparado</a:t>
            </a:r>
            <a:r>
              <a:rPr lang="es-ES">
                <a:solidFill>
                  <a:srgbClr val="313537"/>
                </a:solidFill>
              </a:rPr>
              <a:t>: el archivo modificado está incluido en la próxima confirmación.</a:t>
            </a:r>
            <a:endParaRPr/>
          </a:p>
          <a:p>
            <a:pPr indent="-228600" lvl="0" marL="228600" rtl="0" algn="l">
              <a:lnSpc>
                <a:spcPct val="90000"/>
              </a:lnSpc>
              <a:spcBef>
                <a:spcPts val="1000"/>
              </a:spcBef>
              <a:spcAft>
                <a:spcPts val="0"/>
              </a:spcAft>
              <a:buClr>
                <a:srgbClr val="134A6E"/>
              </a:buClr>
              <a:buSzPts val="2800"/>
              <a:buChar char="•"/>
            </a:pPr>
            <a:r>
              <a:rPr lang="es-ES">
                <a:solidFill>
                  <a:srgbClr val="134A6E"/>
                </a:solidFill>
              </a:rPr>
              <a:t>Confirmado</a:t>
            </a:r>
            <a:r>
              <a:rPr lang="es-ES">
                <a:solidFill>
                  <a:srgbClr val="313537"/>
                </a:solidFill>
              </a:rPr>
              <a:t>: los datos están almacenados y actualizados en la base de datos local.</a:t>
            </a:r>
            <a:endParaRPr>
              <a:solidFill>
                <a:srgbClr val="313537"/>
              </a:solidFill>
            </a:endParaRPr>
          </a:p>
          <a:p>
            <a:pPr indent="-50800" lvl="0" marL="228600" rtl="0" algn="l">
              <a:lnSpc>
                <a:spcPct val="90000"/>
              </a:lnSpc>
              <a:spcBef>
                <a:spcPts val="1000"/>
              </a:spcBef>
              <a:spcAft>
                <a:spcPts val="0"/>
              </a:spcAft>
              <a:buClr>
                <a:srgbClr val="134A6E"/>
              </a:buClr>
              <a:buSzPts val="2800"/>
              <a:buNone/>
            </a:pPr>
            <a:r>
              <a:t/>
            </a:r>
            <a:endParaRPr/>
          </a:p>
        </p:txBody>
      </p:sp>
      <p:pic>
        <p:nvPicPr>
          <p:cNvPr id="208" name="Google Shape;208;p11"/>
          <p:cNvPicPr preferRelativeResize="0"/>
          <p:nvPr/>
        </p:nvPicPr>
        <p:blipFill rotWithShape="1">
          <a:blip r:embed="rId3">
            <a:alphaModFix/>
          </a:blip>
          <a:srcRect b="-4266" l="-2109" r="-2109" t="-4267"/>
          <a:stretch/>
        </p:blipFill>
        <p:spPr>
          <a:xfrm>
            <a:off x="6049963" y="2061029"/>
            <a:ext cx="6040438" cy="3322750"/>
          </a:xfrm>
          <a:prstGeom prst="rect">
            <a:avLst/>
          </a:prstGeom>
          <a:noFill/>
          <a:ln cap="flat" cmpd="sng" w="28575">
            <a:solidFill>
              <a:srgbClr val="C95F45"/>
            </a:solidFill>
            <a:prstDash val="solid"/>
            <a:round/>
            <a:headEnd len="sm" w="sm" type="none"/>
            <a:tailEnd len="sm" w="sm" type="none"/>
          </a:ln>
        </p:spPr>
      </p:pic>
      <p:pic>
        <p:nvPicPr>
          <p:cNvPr id="209" name="Google Shape;209;p11"/>
          <p:cNvPicPr preferRelativeResize="0"/>
          <p:nvPr/>
        </p:nvPicPr>
        <p:blipFill rotWithShape="1">
          <a:blip r:embed="rId4">
            <a:alphaModFix/>
          </a:blip>
          <a:srcRect b="0" l="0" r="0" t="0"/>
          <a:stretch/>
        </p:blipFill>
        <p:spPr>
          <a:xfrm>
            <a:off x="518480" y="1898650"/>
            <a:ext cx="318002" cy="39989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Control de versiones con GIT</a:t>
            </a:r>
            <a:endParaRPr/>
          </a:p>
        </p:txBody>
      </p:sp>
      <p:sp>
        <p:nvSpPr>
          <p:cNvPr id="215" name="Google Shape;215;p12"/>
          <p:cNvSpPr txBox="1"/>
          <p:nvPr>
            <p:ph idx="1" type="body"/>
          </p:nvPr>
        </p:nvSpPr>
        <p:spPr>
          <a:xfrm>
            <a:off x="838200" y="1869167"/>
            <a:ext cx="5181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rgbClr val="134A6E"/>
              </a:buClr>
              <a:buSzPts val="2800"/>
              <a:buNone/>
            </a:pPr>
            <a:r>
              <a:rPr b="1" lang="es-ES" u="sng"/>
              <a:t>Ramas</a:t>
            </a:r>
            <a:endParaRPr/>
          </a:p>
          <a:p>
            <a:pPr indent="-228600" lvl="0" marL="228600" rtl="0" algn="l">
              <a:lnSpc>
                <a:spcPct val="90000"/>
              </a:lnSpc>
              <a:spcBef>
                <a:spcPts val="1000"/>
              </a:spcBef>
              <a:spcAft>
                <a:spcPts val="0"/>
              </a:spcAft>
              <a:buClr>
                <a:srgbClr val="313537"/>
              </a:buClr>
              <a:buSzPts val="2800"/>
              <a:buChar char="•"/>
            </a:pPr>
            <a:r>
              <a:rPr lang="es-ES">
                <a:solidFill>
                  <a:srgbClr val="313537"/>
                </a:solidFill>
              </a:rPr>
              <a:t>GIT permite trabajar en diferentes ramas (branches) del software y administrarlas todas simultáneamente.</a:t>
            </a:r>
            <a:endParaRPr/>
          </a:p>
          <a:p>
            <a:pPr indent="-228600" lvl="0" marL="228600" rtl="0" algn="l">
              <a:lnSpc>
                <a:spcPct val="90000"/>
              </a:lnSpc>
              <a:spcBef>
                <a:spcPts val="1000"/>
              </a:spcBef>
              <a:spcAft>
                <a:spcPts val="0"/>
              </a:spcAft>
              <a:buClr>
                <a:srgbClr val="313537"/>
              </a:buClr>
              <a:buSzPts val="2800"/>
              <a:buChar char="•"/>
            </a:pPr>
            <a:r>
              <a:rPr lang="es-ES">
                <a:solidFill>
                  <a:srgbClr val="313537"/>
                </a:solidFill>
              </a:rPr>
              <a:t>La práctica sugiere:</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Crear un branch “develop” y realizar las modificaciones allí.</a:t>
            </a:r>
            <a:endParaRPr/>
          </a:p>
          <a:p>
            <a:pPr indent="-228600" lvl="1" marL="685800" rtl="0" algn="l">
              <a:lnSpc>
                <a:spcPct val="90000"/>
              </a:lnSpc>
              <a:spcBef>
                <a:spcPts val="500"/>
              </a:spcBef>
              <a:spcAft>
                <a:spcPts val="0"/>
              </a:spcAft>
              <a:buClr>
                <a:srgbClr val="313537"/>
              </a:buClr>
              <a:buSzPts val="2400"/>
              <a:buChar char="•"/>
            </a:pPr>
            <a:r>
              <a:rPr lang="es-ES">
                <a:solidFill>
                  <a:srgbClr val="313537"/>
                </a:solidFill>
              </a:rPr>
              <a:t>Una vez probados los cambios, fusionar (merge) con la rama principal “master” y eliminar la rama “develop”.</a:t>
            </a:r>
            <a:endParaRPr>
              <a:solidFill>
                <a:srgbClr val="313537"/>
              </a:solidFill>
            </a:endParaRPr>
          </a:p>
        </p:txBody>
      </p:sp>
      <p:pic>
        <p:nvPicPr>
          <p:cNvPr descr="Branches" id="216" name="Google Shape;216;p12"/>
          <p:cNvPicPr preferRelativeResize="0"/>
          <p:nvPr>
            <p:ph idx="2" type="body"/>
          </p:nvPr>
        </p:nvPicPr>
        <p:blipFill rotWithShape="1">
          <a:blip r:embed="rId3">
            <a:alphaModFix/>
          </a:blip>
          <a:srcRect b="-7052" l="-7052" r="-7052" t="-7052"/>
          <a:stretch/>
        </p:blipFill>
        <p:spPr>
          <a:xfrm>
            <a:off x="6082601" y="2298541"/>
            <a:ext cx="5912340" cy="3405506"/>
          </a:xfrm>
          <a:prstGeom prst="rect">
            <a:avLst/>
          </a:prstGeom>
          <a:noFill/>
          <a:ln cap="flat" cmpd="sng" w="38100">
            <a:solidFill>
              <a:srgbClr val="C95F45"/>
            </a:solidFill>
            <a:prstDash val="solid"/>
            <a:round/>
            <a:headEnd len="sm" w="sm" type="none"/>
            <a:tailEnd len="sm" w="sm" type="none"/>
          </a:ln>
        </p:spPr>
      </p:pic>
      <p:pic>
        <p:nvPicPr>
          <p:cNvPr id="217" name="Google Shape;217;p12"/>
          <p:cNvPicPr preferRelativeResize="0"/>
          <p:nvPr/>
        </p:nvPicPr>
        <p:blipFill rotWithShape="1">
          <a:blip r:embed="rId4">
            <a:alphaModFix/>
          </a:blip>
          <a:srcRect b="0" l="0" r="0" t="0"/>
          <a:stretch/>
        </p:blipFill>
        <p:spPr>
          <a:xfrm>
            <a:off x="518480" y="1898650"/>
            <a:ext cx="318002" cy="39989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Control de versiones con GIT</a:t>
            </a:r>
            <a:endParaRPr/>
          </a:p>
        </p:txBody>
      </p:sp>
      <p:sp>
        <p:nvSpPr>
          <p:cNvPr id="223" name="Google Shape;223;p13"/>
          <p:cNvSpPr txBox="1"/>
          <p:nvPr>
            <p:ph idx="1" type="body"/>
          </p:nvPr>
        </p:nvSpPr>
        <p:spPr>
          <a:xfrm>
            <a:off x="838200" y="1912709"/>
            <a:ext cx="5181600" cy="466725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rgbClr val="134A6E"/>
              </a:buClr>
              <a:buSzPct val="100000"/>
              <a:buNone/>
            </a:pPr>
            <a:r>
              <a:rPr b="1" lang="es-ES" sz="3300" u="sng">
                <a:solidFill>
                  <a:srgbClr val="134A6E"/>
                </a:solidFill>
              </a:rPr>
              <a:t>GitHub y GitLab</a:t>
            </a:r>
            <a:endParaRPr b="1" sz="3300" u="sng">
              <a:solidFill>
                <a:srgbClr val="134A6E"/>
              </a:solidFill>
            </a:endParaRPr>
          </a:p>
          <a:p>
            <a:pPr indent="-228600" lvl="0" marL="228600" rtl="0" algn="l">
              <a:lnSpc>
                <a:spcPct val="90000"/>
              </a:lnSpc>
              <a:spcBef>
                <a:spcPts val="1000"/>
              </a:spcBef>
              <a:spcAft>
                <a:spcPts val="0"/>
              </a:spcAft>
              <a:buClr>
                <a:srgbClr val="313537"/>
              </a:buClr>
              <a:buSzPct val="100000"/>
              <a:buChar char="•"/>
            </a:pPr>
            <a:r>
              <a:rPr lang="es-ES">
                <a:solidFill>
                  <a:srgbClr val="313537"/>
                </a:solidFill>
              </a:rPr>
              <a:t>Son plataformas para almacenar repositorios GIT.</a:t>
            </a:r>
            <a:endParaRPr/>
          </a:p>
          <a:p>
            <a:pPr indent="-228600" lvl="0" marL="228600" rtl="0" algn="l">
              <a:lnSpc>
                <a:spcPct val="90000"/>
              </a:lnSpc>
              <a:spcBef>
                <a:spcPts val="1000"/>
              </a:spcBef>
              <a:spcAft>
                <a:spcPts val="0"/>
              </a:spcAft>
              <a:buClr>
                <a:srgbClr val="313537"/>
              </a:buClr>
              <a:buSzPct val="100000"/>
              <a:buChar char="•"/>
            </a:pPr>
            <a:r>
              <a:rPr lang="es-ES">
                <a:solidFill>
                  <a:srgbClr val="313537"/>
                </a:solidFill>
              </a:rPr>
              <a:t>Permiten que varios desarrolladores puedan trabajar sobre un mismo proyecto simultáneamente.</a:t>
            </a:r>
            <a:endParaRPr/>
          </a:p>
          <a:p>
            <a:pPr indent="-228600" lvl="0" marL="228600" rtl="0" algn="l">
              <a:lnSpc>
                <a:spcPct val="90000"/>
              </a:lnSpc>
              <a:spcBef>
                <a:spcPts val="1000"/>
              </a:spcBef>
              <a:spcAft>
                <a:spcPts val="0"/>
              </a:spcAft>
              <a:buClr>
                <a:srgbClr val="313537"/>
              </a:buClr>
              <a:buSzPct val="100000"/>
              <a:buChar char="•"/>
            </a:pPr>
            <a:r>
              <a:rPr lang="es-ES">
                <a:solidFill>
                  <a:srgbClr val="313537"/>
                </a:solidFill>
              </a:rPr>
              <a:t>Admiten repositorios públicos y privados.</a:t>
            </a:r>
            <a:endParaRPr/>
          </a:p>
          <a:p>
            <a:pPr indent="-228600" lvl="0" marL="228600" rtl="0" algn="l">
              <a:lnSpc>
                <a:spcPct val="90000"/>
              </a:lnSpc>
              <a:spcBef>
                <a:spcPts val="1000"/>
              </a:spcBef>
              <a:spcAft>
                <a:spcPts val="0"/>
              </a:spcAft>
              <a:buClr>
                <a:srgbClr val="313537"/>
              </a:buClr>
              <a:buSzPct val="100000"/>
              <a:buChar char="•"/>
            </a:pPr>
            <a:r>
              <a:rPr lang="es-ES">
                <a:solidFill>
                  <a:srgbClr val="313537"/>
                </a:solidFill>
              </a:rPr>
              <a:t>Se ofrecen como servicio Cloud o se pueden instalar como instancia privada.</a:t>
            </a:r>
            <a:endParaRPr/>
          </a:p>
          <a:p>
            <a:pPr indent="-228600" lvl="0" marL="228600" rtl="0" algn="l">
              <a:lnSpc>
                <a:spcPct val="90000"/>
              </a:lnSpc>
              <a:spcBef>
                <a:spcPts val="1000"/>
              </a:spcBef>
              <a:spcAft>
                <a:spcPts val="0"/>
              </a:spcAft>
              <a:buClr>
                <a:srgbClr val="313537"/>
              </a:buClr>
              <a:buSzPct val="100000"/>
              <a:buChar char="•"/>
            </a:pPr>
            <a:r>
              <a:rPr lang="es-ES">
                <a:solidFill>
                  <a:srgbClr val="313537"/>
                </a:solidFill>
              </a:rPr>
              <a:t>Ofrecen funciones adicionales a GIT como </a:t>
            </a:r>
            <a:r>
              <a:rPr b="0" i="0" lang="es-ES">
                <a:solidFill>
                  <a:srgbClr val="313537"/>
                </a:solidFill>
                <a:latin typeface="Roboto"/>
                <a:ea typeface="Roboto"/>
                <a:cs typeface="Roboto"/>
                <a:sym typeface="Roboto"/>
              </a:rPr>
              <a:t>Project Management, </a:t>
            </a:r>
            <a:r>
              <a:rPr lang="es-ES">
                <a:solidFill>
                  <a:srgbClr val="313537"/>
                </a:solidFill>
                <a:latin typeface="Roboto"/>
                <a:ea typeface="Roboto"/>
                <a:cs typeface="Roboto"/>
                <a:sym typeface="Roboto"/>
              </a:rPr>
              <a:t>C</a:t>
            </a:r>
            <a:r>
              <a:rPr b="0" i="0" lang="es-ES">
                <a:solidFill>
                  <a:srgbClr val="313537"/>
                </a:solidFill>
                <a:latin typeface="Roboto"/>
                <a:ea typeface="Roboto"/>
                <a:cs typeface="Roboto"/>
                <a:sym typeface="Roboto"/>
              </a:rPr>
              <a:t>olaboración, CI/CD.</a:t>
            </a:r>
            <a:endParaRPr>
              <a:solidFill>
                <a:srgbClr val="313537"/>
              </a:solidFill>
            </a:endParaRPr>
          </a:p>
        </p:txBody>
      </p:sp>
      <p:pic>
        <p:nvPicPr>
          <p:cNvPr descr="GitHub Logo and symbol, meaning, history, PNG, brand" id="224" name="Google Shape;224;p13"/>
          <p:cNvPicPr preferRelativeResize="0"/>
          <p:nvPr/>
        </p:nvPicPr>
        <p:blipFill rotWithShape="1">
          <a:blip r:embed="rId3">
            <a:alphaModFix/>
          </a:blip>
          <a:srcRect b="0" l="0" r="0" t="0"/>
          <a:stretch/>
        </p:blipFill>
        <p:spPr>
          <a:xfrm>
            <a:off x="6642852" y="3950504"/>
            <a:ext cx="2420696" cy="1361642"/>
          </a:xfrm>
          <a:prstGeom prst="rect">
            <a:avLst/>
          </a:prstGeom>
          <a:noFill/>
          <a:ln>
            <a:noFill/>
          </a:ln>
        </p:spPr>
      </p:pic>
      <p:pic>
        <p:nvPicPr>
          <p:cNvPr descr="Git Logo PNG vector in SVG, PDF, AI, CDR format" id="225" name="Google Shape;225;p13"/>
          <p:cNvPicPr preferRelativeResize="0"/>
          <p:nvPr/>
        </p:nvPicPr>
        <p:blipFill rotWithShape="1">
          <a:blip r:embed="rId4">
            <a:alphaModFix/>
          </a:blip>
          <a:srcRect b="24037" l="13176" r="13175" t="24037"/>
          <a:stretch/>
        </p:blipFill>
        <p:spPr>
          <a:xfrm>
            <a:off x="7683250" y="1981984"/>
            <a:ext cx="2573158" cy="1361642"/>
          </a:xfrm>
          <a:prstGeom prst="rect">
            <a:avLst/>
          </a:prstGeom>
          <a:noFill/>
          <a:ln>
            <a:noFill/>
          </a:ln>
        </p:spPr>
      </p:pic>
      <p:pic>
        <p:nvPicPr>
          <p:cNvPr descr="Gitlab Logo and symbol, meaning, history, PNG, brand" id="226" name="Google Shape;226;p13"/>
          <p:cNvPicPr preferRelativeResize="0"/>
          <p:nvPr/>
        </p:nvPicPr>
        <p:blipFill rotWithShape="1">
          <a:blip r:embed="rId5">
            <a:alphaModFix/>
          </a:blip>
          <a:srcRect b="0" l="0" r="0" t="0"/>
          <a:stretch/>
        </p:blipFill>
        <p:spPr>
          <a:xfrm>
            <a:off x="9246407" y="3954236"/>
            <a:ext cx="2408564" cy="1354818"/>
          </a:xfrm>
          <a:prstGeom prst="rect">
            <a:avLst/>
          </a:prstGeom>
          <a:noFill/>
          <a:ln>
            <a:noFill/>
          </a:ln>
        </p:spPr>
      </p:pic>
      <p:pic>
        <p:nvPicPr>
          <p:cNvPr id="227" name="Google Shape;227;p13"/>
          <p:cNvPicPr preferRelativeResize="0"/>
          <p:nvPr/>
        </p:nvPicPr>
        <p:blipFill rotWithShape="1">
          <a:blip r:embed="rId6">
            <a:alphaModFix/>
          </a:blip>
          <a:srcRect b="0" l="0" r="0" t="0"/>
          <a:stretch/>
        </p:blipFill>
        <p:spPr>
          <a:xfrm>
            <a:off x="518480" y="1898650"/>
            <a:ext cx="318002" cy="39989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descr="A blue background with a map of the world&#10;&#10;Description automatically generated with low confidence" id="232" name="Google Shape;232;p14"/>
          <p:cNvPicPr preferRelativeResize="0"/>
          <p:nvPr/>
        </p:nvPicPr>
        <p:blipFill rotWithShape="1">
          <a:blip r:embed="rId3">
            <a:alphaModFix/>
          </a:blip>
          <a:srcRect b="0" l="0" r="0" t="0"/>
          <a:stretch/>
        </p:blipFill>
        <p:spPr>
          <a:xfrm>
            <a:off x="-21982" y="0"/>
            <a:ext cx="12235964" cy="6858000"/>
          </a:xfrm>
          <a:prstGeom prst="rect">
            <a:avLst/>
          </a:prstGeom>
          <a:noFill/>
          <a:ln>
            <a:noFill/>
          </a:ln>
        </p:spPr>
      </p:pic>
      <p:pic>
        <p:nvPicPr>
          <p:cNvPr id="233" name="Google Shape;233;p14"/>
          <p:cNvPicPr preferRelativeResize="0"/>
          <p:nvPr/>
        </p:nvPicPr>
        <p:blipFill rotWithShape="1">
          <a:blip r:embed="rId4">
            <a:alphaModFix/>
          </a:blip>
          <a:srcRect b="0" l="0" r="0" t="0"/>
          <a:stretch/>
        </p:blipFill>
        <p:spPr>
          <a:xfrm>
            <a:off x="9386250" y="5632315"/>
            <a:ext cx="2093515" cy="751519"/>
          </a:xfrm>
          <a:prstGeom prst="rect">
            <a:avLst/>
          </a:prstGeom>
          <a:noFill/>
          <a:ln>
            <a:noFill/>
          </a:ln>
        </p:spPr>
      </p:pic>
      <p:sp>
        <p:nvSpPr>
          <p:cNvPr id="234" name="Google Shape;234;p14"/>
          <p:cNvSpPr txBox="1"/>
          <p:nvPr/>
        </p:nvSpPr>
        <p:spPr>
          <a:xfrm>
            <a:off x="2447616" y="2706448"/>
            <a:ext cx="7289397" cy="91704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alibri"/>
              <a:buNone/>
            </a:pPr>
            <a:r>
              <a:rPr b="1" i="0" lang="es-ES" sz="4800" u="none" cap="none" strike="noStrike">
                <a:solidFill>
                  <a:schemeClr val="lt1"/>
                </a:solidFill>
                <a:latin typeface="Arial"/>
                <a:ea typeface="Arial"/>
                <a:cs typeface="Arial"/>
                <a:sym typeface="Arial"/>
              </a:rPr>
              <a:t>¿Consultas?</a:t>
            </a:r>
            <a:endParaRPr b="1" i="0" sz="4800" u="none" cap="none" strike="noStrike">
              <a:solidFill>
                <a:schemeClr val="lt1"/>
              </a:solidFill>
              <a:latin typeface="Arial"/>
              <a:ea typeface="Arial"/>
              <a:cs typeface="Arial"/>
              <a:sym typeface="Arial"/>
            </a:endParaRPr>
          </a:p>
        </p:txBody>
      </p:sp>
      <p:sp>
        <p:nvSpPr>
          <p:cNvPr id="235" name="Google Shape;235;p14"/>
          <p:cNvSpPr/>
          <p:nvPr/>
        </p:nvSpPr>
        <p:spPr>
          <a:xfrm>
            <a:off x="5708071" y="3511007"/>
            <a:ext cx="768486" cy="116731"/>
          </a:xfrm>
          <a:prstGeom prst="rect">
            <a:avLst/>
          </a:prstGeom>
          <a:solidFill>
            <a:srgbClr val="BEB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15"/>
          <p:cNvPicPr preferRelativeResize="0"/>
          <p:nvPr/>
        </p:nvPicPr>
        <p:blipFill rotWithShape="1">
          <a:blip r:embed="rId3">
            <a:alphaModFix/>
          </a:blip>
          <a:srcRect b="12086" l="11166" r="12353" t="19373"/>
          <a:stretch/>
        </p:blipFill>
        <p:spPr>
          <a:xfrm>
            <a:off x="9386251" y="5632315"/>
            <a:ext cx="2093514" cy="797146"/>
          </a:xfrm>
          <a:prstGeom prst="rect">
            <a:avLst/>
          </a:prstGeom>
          <a:noFill/>
          <a:ln>
            <a:noFill/>
          </a:ln>
        </p:spPr>
      </p:pic>
      <p:sp>
        <p:nvSpPr>
          <p:cNvPr id="241" name="Google Shape;241;p15"/>
          <p:cNvSpPr txBox="1"/>
          <p:nvPr/>
        </p:nvSpPr>
        <p:spPr>
          <a:xfrm>
            <a:off x="5110494" y="1663742"/>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68776C"/>
                </a:solidFill>
                <a:latin typeface="Arial"/>
                <a:ea typeface="Arial"/>
                <a:cs typeface="Arial"/>
                <a:sym typeface="Arial"/>
              </a:rPr>
              <a:t>Desarrollo y patrones de diseño de software</a:t>
            </a:r>
            <a:endParaRPr sz="2400">
              <a:solidFill>
                <a:srgbClr val="68776C"/>
              </a:solidFill>
              <a:latin typeface="Arial"/>
              <a:ea typeface="Arial"/>
              <a:cs typeface="Arial"/>
              <a:sym typeface="Arial"/>
            </a:endParaRPr>
          </a:p>
        </p:txBody>
      </p:sp>
      <p:pic>
        <p:nvPicPr>
          <p:cNvPr id="242" name="Google Shape;242;p15"/>
          <p:cNvPicPr preferRelativeResize="0"/>
          <p:nvPr/>
        </p:nvPicPr>
        <p:blipFill rotWithShape="1">
          <a:blip r:embed="rId4">
            <a:alphaModFix/>
          </a:blip>
          <a:srcRect b="0" l="0" r="0" t="0"/>
          <a:stretch/>
        </p:blipFill>
        <p:spPr>
          <a:xfrm>
            <a:off x="4741817" y="1731733"/>
            <a:ext cx="321338" cy="347507"/>
          </a:xfrm>
          <a:prstGeom prst="rect">
            <a:avLst/>
          </a:prstGeom>
          <a:noFill/>
          <a:ln>
            <a:noFill/>
          </a:ln>
        </p:spPr>
      </p:pic>
      <p:sp>
        <p:nvSpPr>
          <p:cNvPr id="243" name="Google Shape;243;p15"/>
          <p:cNvSpPr/>
          <p:nvPr/>
        </p:nvSpPr>
        <p:spPr>
          <a:xfrm>
            <a:off x="0" y="0"/>
            <a:ext cx="4310743" cy="6858000"/>
          </a:xfrm>
          <a:prstGeom prst="rect">
            <a:avLst/>
          </a:prstGeom>
          <a:solidFill>
            <a:srgbClr val="2780B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4" name="Google Shape;244;p15"/>
          <p:cNvSpPr txBox="1"/>
          <p:nvPr/>
        </p:nvSpPr>
        <p:spPr>
          <a:xfrm>
            <a:off x="300446" y="1813556"/>
            <a:ext cx="444137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4000">
                <a:solidFill>
                  <a:schemeClr val="lt1"/>
                </a:solidFill>
                <a:latin typeface="Arial"/>
                <a:ea typeface="Arial"/>
                <a:cs typeface="Arial"/>
                <a:sym typeface="Arial"/>
              </a:rPr>
              <a:t>Temario</a:t>
            </a:r>
            <a:endParaRPr b="1" sz="1800">
              <a:solidFill>
                <a:schemeClr val="lt1"/>
              </a:solidFill>
              <a:latin typeface="Arial"/>
              <a:ea typeface="Arial"/>
              <a:cs typeface="Arial"/>
              <a:sym typeface="Arial"/>
            </a:endParaRPr>
          </a:p>
        </p:txBody>
      </p:sp>
      <p:sp>
        <p:nvSpPr>
          <p:cNvPr id="245" name="Google Shape;245;p15"/>
          <p:cNvSpPr/>
          <p:nvPr/>
        </p:nvSpPr>
        <p:spPr>
          <a:xfrm>
            <a:off x="300446" y="5226440"/>
            <a:ext cx="768486" cy="116731"/>
          </a:xfrm>
          <a:prstGeom prst="rect">
            <a:avLst/>
          </a:prstGeom>
          <a:solidFill>
            <a:srgbClr val="BEB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6" name="Google Shape;246;p15"/>
          <p:cNvSpPr txBox="1"/>
          <p:nvPr/>
        </p:nvSpPr>
        <p:spPr>
          <a:xfrm>
            <a:off x="5110494" y="2621631"/>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68776C"/>
                </a:solidFill>
                <a:latin typeface="Arial"/>
                <a:ea typeface="Arial"/>
                <a:cs typeface="Arial"/>
                <a:sym typeface="Arial"/>
              </a:rPr>
              <a:t>Control de versiones con GIT</a:t>
            </a:r>
            <a:endParaRPr sz="2400">
              <a:solidFill>
                <a:srgbClr val="68776C"/>
              </a:solidFill>
              <a:latin typeface="Arial"/>
              <a:ea typeface="Arial"/>
              <a:cs typeface="Arial"/>
              <a:sym typeface="Arial"/>
            </a:endParaRPr>
          </a:p>
        </p:txBody>
      </p:sp>
      <p:pic>
        <p:nvPicPr>
          <p:cNvPr id="247" name="Google Shape;247;p15"/>
          <p:cNvPicPr preferRelativeResize="0"/>
          <p:nvPr/>
        </p:nvPicPr>
        <p:blipFill rotWithShape="1">
          <a:blip r:embed="rId4">
            <a:alphaModFix/>
          </a:blip>
          <a:srcRect b="0" l="0" r="0" t="0"/>
          <a:stretch/>
        </p:blipFill>
        <p:spPr>
          <a:xfrm>
            <a:off x="4741817" y="2678709"/>
            <a:ext cx="321338" cy="347507"/>
          </a:xfrm>
          <a:prstGeom prst="rect">
            <a:avLst/>
          </a:prstGeom>
          <a:noFill/>
          <a:ln>
            <a:noFill/>
          </a:ln>
        </p:spPr>
      </p:pic>
      <p:sp>
        <p:nvSpPr>
          <p:cNvPr id="248" name="Google Shape;248;p15"/>
          <p:cNvSpPr txBox="1"/>
          <p:nvPr/>
        </p:nvSpPr>
        <p:spPr>
          <a:xfrm>
            <a:off x="5110494" y="3594111"/>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b="1" lang="es-ES" sz="2400">
                <a:solidFill>
                  <a:srgbClr val="2782BB"/>
                </a:solidFill>
                <a:latin typeface="Arial"/>
                <a:ea typeface="Arial"/>
                <a:cs typeface="Arial"/>
                <a:sym typeface="Arial"/>
              </a:rPr>
              <a:t>Conceptos básicos de codificación</a:t>
            </a:r>
            <a:endParaRPr b="1" sz="2400">
              <a:solidFill>
                <a:srgbClr val="2782BB"/>
              </a:solidFill>
              <a:latin typeface="Arial"/>
              <a:ea typeface="Arial"/>
              <a:cs typeface="Arial"/>
              <a:sym typeface="Arial"/>
            </a:endParaRPr>
          </a:p>
        </p:txBody>
      </p:sp>
      <p:pic>
        <p:nvPicPr>
          <p:cNvPr id="249" name="Google Shape;249;p15"/>
          <p:cNvPicPr preferRelativeResize="0"/>
          <p:nvPr/>
        </p:nvPicPr>
        <p:blipFill rotWithShape="1">
          <a:blip r:embed="rId4">
            <a:alphaModFix/>
          </a:blip>
          <a:srcRect b="0" l="0" r="0" t="0"/>
          <a:stretch/>
        </p:blipFill>
        <p:spPr>
          <a:xfrm>
            <a:off x="4741817" y="3651189"/>
            <a:ext cx="321338" cy="347507"/>
          </a:xfrm>
          <a:prstGeom prst="rect">
            <a:avLst/>
          </a:prstGeom>
          <a:noFill/>
          <a:ln>
            <a:noFill/>
          </a:ln>
        </p:spPr>
      </p:pic>
      <p:sp>
        <p:nvSpPr>
          <p:cNvPr id="250" name="Google Shape;250;p15"/>
          <p:cNvSpPr txBox="1"/>
          <p:nvPr/>
        </p:nvSpPr>
        <p:spPr>
          <a:xfrm>
            <a:off x="5110494" y="4547928"/>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68776C"/>
                </a:solidFill>
                <a:latin typeface="Arial"/>
                <a:ea typeface="Arial"/>
                <a:cs typeface="Arial"/>
                <a:sym typeface="Arial"/>
              </a:rPr>
              <a:t>Formato de los datos</a:t>
            </a:r>
            <a:endParaRPr sz="2400">
              <a:solidFill>
                <a:srgbClr val="68776C"/>
              </a:solidFill>
              <a:latin typeface="Arial"/>
              <a:ea typeface="Arial"/>
              <a:cs typeface="Arial"/>
              <a:sym typeface="Arial"/>
            </a:endParaRPr>
          </a:p>
        </p:txBody>
      </p:sp>
      <p:pic>
        <p:nvPicPr>
          <p:cNvPr id="251" name="Google Shape;251;p15"/>
          <p:cNvPicPr preferRelativeResize="0"/>
          <p:nvPr/>
        </p:nvPicPr>
        <p:blipFill rotWithShape="1">
          <a:blip r:embed="rId4">
            <a:alphaModFix/>
          </a:blip>
          <a:srcRect b="0" l="0" r="0" t="0"/>
          <a:stretch/>
        </p:blipFill>
        <p:spPr>
          <a:xfrm>
            <a:off x="4741817" y="4605006"/>
            <a:ext cx="321338" cy="34750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16"/>
          <p:cNvPicPr preferRelativeResize="0"/>
          <p:nvPr/>
        </p:nvPicPr>
        <p:blipFill rotWithShape="1">
          <a:blip r:embed="rId3">
            <a:alphaModFix/>
          </a:blip>
          <a:srcRect b="50000" l="0" r="0" t="6029"/>
          <a:stretch/>
        </p:blipFill>
        <p:spPr>
          <a:xfrm>
            <a:off x="6172200" y="4659086"/>
            <a:ext cx="5181600" cy="1517877"/>
          </a:xfrm>
          <a:prstGeom prst="rect">
            <a:avLst/>
          </a:prstGeom>
          <a:solidFill>
            <a:schemeClr val="lt2"/>
          </a:solidFill>
          <a:ln>
            <a:noFill/>
          </a:ln>
          <a:effectLst>
            <a:outerShdw blurRad="50800" rotWithShape="0" algn="ctr" dir="5400000" dist="50800">
              <a:srgbClr val="7F7F7F"/>
            </a:outerShdw>
          </a:effectLst>
        </p:spPr>
      </p:pic>
      <p:sp>
        <p:nvSpPr>
          <p:cNvPr id="257" name="Google Shape;25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Conceptos básicos de codificación</a:t>
            </a:r>
            <a:endParaRPr/>
          </a:p>
        </p:txBody>
      </p:sp>
      <p:sp>
        <p:nvSpPr>
          <p:cNvPr id="258" name="Google Shape;258;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34A6E"/>
              </a:buClr>
              <a:buSzPts val="2800"/>
              <a:buNone/>
            </a:pPr>
            <a:r>
              <a:rPr b="1" lang="es-ES" u="sng"/>
              <a:t>Métodos y funciones​​​​​​​</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Son bloques de código que realizan tareas cuando se ejecutan.</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El código que realiza una tarea discreta, incluso si solo ocurre una vez, puede ser candidato para la encapsulación.</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El código de tarea que se usa más de una vez probablemente debería encapsularse.</a:t>
            </a:r>
            <a:endParaRPr/>
          </a:p>
          <a:p>
            <a:pPr indent="-50800" lvl="0" marL="228600" rtl="0" algn="l">
              <a:lnSpc>
                <a:spcPct val="90000"/>
              </a:lnSpc>
              <a:spcBef>
                <a:spcPts val="1000"/>
              </a:spcBef>
              <a:spcAft>
                <a:spcPts val="0"/>
              </a:spcAft>
              <a:buClr>
                <a:srgbClr val="134A6E"/>
              </a:buClr>
              <a:buSzPts val="2800"/>
              <a:buNone/>
            </a:pPr>
            <a:r>
              <a:t/>
            </a:r>
            <a:endParaRPr/>
          </a:p>
        </p:txBody>
      </p:sp>
      <p:sp>
        <p:nvSpPr>
          <p:cNvPr id="259" name="Google Shape;259;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2782BB"/>
              </a:buClr>
              <a:buSzPts val="2400"/>
              <a:buNone/>
            </a:pPr>
            <a:r>
              <a:rPr b="0" lang="es-ES" sz="2400">
                <a:solidFill>
                  <a:srgbClr val="2782BB"/>
                </a:solidFill>
                <a:latin typeface="Arial"/>
                <a:ea typeface="Arial"/>
                <a:cs typeface="Arial"/>
                <a:sym typeface="Arial"/>
              </a:rPr>
              <a:t>La diferencia entre métodos y funciones es que </a:t>
            </a:r>
            <a:r>
              <a:rPr b="0" i="1" lang="es-ES" sz="2400">
                <a:solidFill>
                  <a:srgbClr val="C95F45"/>
                </a:solidFill>
                <a:latin typeface="Arial"/>
                <a:ea typeface="Arial"/>
                <a:cs typeface="Arial"/>
                <a:sym typeface="Arial"/>
              </a:rPr>
              <a:t>las </a:t>
            </a:r>
            <a:r>
              <a:rPr b="1" i="1" lang="es-ES" sz="2400">
                <a:solidFill>
                  <a:srgbClr val="C95F45"/>
                </a:solidFill>
                <a:latin typeface="Arial"/>
                <a:ea typeface="Arial"/>
                <a:cs typeface="Arial"/>
                <a:sym typeface="Arial"/>
              </a:rPr>
              <a:t>funciones son bloques de código independientes</a:t>
            </a:r>
            <a:r>
              <a:rPr b="0" lang="es-ES" sz="2400">
                <a:solidFill>
                  <a:srgbClr val="2782BB"/>
                </a:solidFill>
                <a:latin typeface="Arial"/>
                <a:ea typeface="Arial"/>
                <a:cs typeface="Arial"/>
                <a:sym typeface="Arial"/>
              </a:rPr>
              <a:t>, mientras que </a:t>
            </a:r>
            <a:r>
              <a:rPr b="1" i="1" lang="es-ES" sz="2400">
                <a:solidFill>
                  <a:srgbClr val="C95F45"/>
                </a:solidFill>
                <a:latin typeface="Arial"/>
                <a:ea typeface="Arial"/>
                <a:cs typeface="Arial"/>
                <a:sym typeface="Arial"/>
              </a:rPr>
              <a:t>los métodos son bloques de código asociados con un objeto</a:t>
            </a:r>
            <a:r>
              <a:rPr b="0" lang="es-ES" sz="2400">
                <a:solidFill>
                  <a:srgbClr val="2782BB"/>
                </a:solidFill>
                <a:latin typeface="Arial"/>
                <a:ea typeface="Arial"/>
                <a:cs typeface="Arial"/>
                <a:sym typeface="Arial"/>
              </a:rPr>
              <a:t>, normalmente para la programación orientada a objetos.</a:t>
            </a:r>
            <a:endParaRPr sz="2400">
              <a:solidFill>
                <a:srgbClr val="2782BB"/>
              </a:solidFill>
            </a:endParaRPr>
          </a:p>
        </p:txBody>
      </p:sp>
      <p:pic>
        <p:nvPicPr>
          <p:cNvPr id="260" name="Google Shape;260;p16"/>
          <p:cNvPicPr preferRelativeResize="0"/>
          <p:nvPr/>
        </p:nvPicPr>
        <p:blipFill rotWithShape="1">
          <a:blip r:embed="rId4">
            <a:alphaModFix/>
          </a:blip>
          <a:srcRect b="0" l="0" r="0" t="0"/>
          <a:stretch/>
        </p:blipFill>
        <p:spPr>
          <a:xfrm>
            <a:off x="518480" y="1898650"/>
            <a:ext cx="318002" cy="39989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Conceptos básicos de codificación</a:t>
            </a:r>
            <a:endParaRPr/>
          </a:p>
        </p:txBody>
      </p:sp>
      <p:sp>
        <p:nvSpPr>
          <p:cNvPr id="266" name="Google Shape;266;p17"/>
          <p:cNvSpPr txBox="1"/>
          <p:nvPr>
            <p:ph idx="1" type="body"/>
          </p:nvPr>
        </p:nvSpPr>
        <p:spPr>
          <a:xfrm>
            <a:off x="838200" y="1869167"/>
            <a:ext cx="5181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rgbClr val="134A6E"/>
              </a:buClr>
              <a:buSzPct val="100000"/>
              <a:buNone/>
            </a:pPr>
            <a:r>
              <a:rPr b="1" lang="es-ES" sz="3000" u="sng"/>
              <a:t>Argumentos y parámetros</a:t>
            </a:r>
            <a:endParaRPr/>
          </a:p>
          <a:p>
            <a:pPr indent="-228600" lvl="0" marL="228600" rtl="0" algn="l">
              <a:lnSpc>
                <a:spcPct val="90000"/>
              </a:lnSpc>
              <a:spcBef>
                <a:spcPts val="1000"/>
              </a:spcBef>
              <a:spcAft>
                <a:spcPts val="0"/>
              </a:spcAft>
              <a:buClr>
                <a:srgbClr val="313537"/>
              </a:buClr>
              <a:buSzPct val="100000"/>
              <a:buChar char="•"/>
            </a:pPr>
            <a:r>
              <a:rPr lang="es-ES" sz="2600">
                <a:solidFill>
                  <a:srgbClr val="313537"/>
                </a:solidFill>
              </a:rPr>
              <a:t>Son las variables que se pasan a un método o función para su ejecución.</a:t>
            </a:r>
            <a:endParaRPr/>
          </a:p>
          <a:p>
            <a:pPr indent="-228600" lvl="0" marL="228600" rtl="0" algn="l">
              <a:lnSpc>
                <a:spcPct val="90000"/>
              </a:lnSpc>
              <a:spcBef>
                <a:spcPts val="1000"/>
              </a:spcBef>
              <a:spcAft>
                <a:spcPts val="0"/>
              </a:spcAft>
              <a:buClr>
                <a:srgbClr val="313537"/>
              </a:buClr>
              <a:buSzPct val="100000"/>
              <a:buChar char="•"/>
            </a:pPr>
            <a:r>
              <a:rPr b="0" i="0" lang="es-ES" sz="2600">
                <a:solidFill>
                  <a:srgbClr val="313537"/>
                </a:solidFill>
                <a:latin typeface="Arial"/>
                <a:ea typeface="Arial"/>
                <a:cs typeface="Arial"/>
                <a:sym typeface="Arial"/>
              </a:rPr>
              <a:t>Los argumentos pasados al método o la función deben coincidir con los tipos de datos esperados por el método o la función.</a:t>
            </a:r>
            <a:endParaRPr/>
          </a:p>
          <a:p>
            <a:pPr indent="-228600" lvl="0" marL="228600" rtl="0" algn="l">
              <a:lnSpc>
                <a:spcPct val="90000"/>
              </a:lnSpc>
              <a:spcBef>
                <a:spcPts val="1000"/>
              </a:spcBef>
              <a:spcAft>
                <a:spcPts val="0"/>
              </a:spcAft>
              <a:buClr>
                <a:srgbClr val="313537"/>
              </a:buClr>
              <a:buSzPct val="100000"/>
              <a:buChar char="•"/>
            </a:pPr>
            <a:r>
              <a:rPr b="0" i="0" lang="es-ES" sz="2600">
                <a:solidFill>
                  <a:srgbClr val="313537"/>
                </a:solidFill>
                <a:latin typeface="Arial"/>
                <a:ea typeface="Arial"/>
                <a:cs typeface="Arial"/>
                <a:sym typeface="Arial"/>
              </a:rPr>
              <a:t>Los métodos y funciones realizan tareas y también pueden devolver un valor.</a:t>
            </a:r>
            <a:endParaRPr sz="2600">
              <a:solidFill>
                <a:srgbClr val="313537"/>
              </a:solidFill>
            </a:endParaRPr>
          </a:p>
          <a:p>
            <a:pPr indent="-64135" lvl="0" marL="228600" rtl="0" algn="l">
              <a:lnSpc>
                <a:spcPct val="90000"/>
              </a:lnSpc>
              <a:spcBef>
                <a:spcPts val="1000"/>
              </a:spcBef>
              <a:spcAft>
                <a:spcPts val="0"/>
              </a:spcAft>
              <a:buClr>
                <a:srgbClr val="134A6E"/>
              </a:buClr>
              <a:buSzPct val="100000"/>
              <a:buNone/>
            </a:pPr>
            <a:r>
              <a:t/>
            </a:r>
            <a:endParaRPr/>
          </a:p>
        </p:txBody>
      </p:sp>
      <p:pic>
        <p:nvPicPr>
          <p:cNvPr id="267" name="Google Shape;267;p17"/>
          <p:cNvPicPr preferRelativeResize="0"/>
          <p:nvPr/>
        </p:nvPicPr>
        <p:blipFill rotWithShape="1">
          <a:blip r:embed="rId3">
            <a:alphaModFix/>
          </a:blip>
          <a:srcRect b="20422" l="2484" r="2483" t="20423"/>
          <a:stretch/>
        </p:blipFill>
        <p:spPr>
          <a:xfrm>
            <a:off x="6172202" y="2564531"/>
            <a:ext cx="5816598" cy="2709563"/>
          </a:xfrm>
          <a:prstGeom prst="rect">
            <a:avLst/>
          </a:prstGeom>
          <a:noFill/>
          <a:ln cap="flat" cmpd="sng" w="38100">
            <a:solidFill>
              <a:srgbClr val="C95F45"/>
            </a:solidFill>
            <a:prstDash val="solid"/>
            <a:round/>
            <a:headEnd len="sm" w="sm" type="none"/>
            <a:tailEnd len="sm" w="sm" type="none"/>
          </a:ln>
          <a:effectLst>
            <a:outerShdw blurRad="50800" rotWithShape="0" algn="ctr" dir="5400000" dist="50800">
              <a:srgbClr val="7F7F7F">
                <a:alpha val="49803"/>
              </a:srgbClr>
            </a:outerShdw>
          </a:effectLst>
        </p:spPr>
      </p:pic>
      <p:pic>
        <p:nvPicPr>
          <p:cNvPr id="268" name="Google Shape;268;p17"/>
          <p:cNvPicPr preferRelativeResize="0"/>
          <p:nvPr/>
        </p:nvPicPr>
        <p:blipFill rotWithShape="1">
          <a:blip r:embed="rId4">
            <a:alphaModFix/>
          </a:blip>
          <a:srcRect b="0" l="0" r="0" t="0"/>
          <a:stretch/>
        </p:blipFill>
        <p:spPr>
          <a:xfrm>
            <a:off x="518480" y="1898650"/>
            <a:ext cx="318002" cy="39989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Conceptos básicos de codificación</a:t>
            </a:r>
            <a:endParaRPr/>
          </a:p>
        </p:txBody>
      </p:sp>
      <p:sp>
        <p:nvSpPr>
          <p:cNvPr id="274" name="Google Shape;274;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134A6E"/>
              </a:buClr>
              <a:buSzPts val="2800"/>
              <a:buNone/>
            </a:pPr>
            <a:r>
              <a:rPr b="1" lang="es-ES" u="sng"/>
              <a:t>Módulos</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Fragmentos de código independientes y autónomos, empaquetados un solo archivo, que se pueden reutilizar.</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Dividen un proyecto grande en partes pequeñas, más fáciles de leer y comprender.</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Se deben poder desarrollar en paralelo sin conflictos.</a:t>
            </a:r>
            <a:endParaRPr/>
          </a:p>
        </p:txBody>
      </p:sp>
      <p:pic>
        <p:nvPicPr>
          <p:cNvPr id="275" name="Google Shape;275;p18"/>
          <p:cNvPicPr preferRelativeResize="0"/>
          <p:nvPr/>
        </p:nvPicPr>
        <p:blipFill rotWithShape="1">
          <a:blip r:embed="rId3">
            <a:alphaModFix/>
          </a:blip>
          <a:srcRect b="0" l="0" r="0" t="0"/>
          <a:stretch/>
        </p:blipFill>
        <p:spPr>
          <a:xfrm>
            <a:off x="518480" y="1898650"/>
            <a:ext cx="318002" cy="399890"/>
          </a:xfrm>
          <a:prstGeom prst="rect">
            <a:avLst/>
          </a:prstGeom>
          <a:noFill/>
          <a:ln>
            <a:noFill/>
          </a:ln>
        </p:spPr>
      </p:pic>
      <p:pic>
        <p:nvPicPr>
          <p:cNvPr id="276" name="Google Shape;276;p18"/>
          <p:cNvPicPr preferRelativeResize="0"/>
          <p:nvPr/>
        </p:nvPicPr>
        <p:blipFill rotWithShape="1">
          <a:blip r:embed="rId4">
            <a:alphaModFix/>
          </a:blip>
          <a:srcRect b="0" l="0" r="0" t="0"/>
          <a:stretch/>
        </p:blipFill>
        <p:spPr>
          <a:xfrm>
            <a:off x="6589486" y="1621745"/>
            <a:ext cx="4586514" cy="458651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19"/>
          <p:cNvPicPr preferRelativeResize="0"/>
          <p:nvPr/>
        </p:nvPicPr>
        <p:blipFill rotWithShape="1">
          <a:blip r:embed="rId3">
            <a:alphaModFix/>
          </a:blip>
          <a:srcRect b="12086" l="11166" r="12353" t="19373"/>
          <a:stretch/>
        </p:blipFill>
        <p:spPr>
          <a:xfrm>
            <a:off x="9386251" y="5632315"/>
            <a:ext cx="2093514" cy="797146"/>
          </a:xfrm>
          <a:prstGeom prst="rect">
            <a:avLst/>
          </a:prstGeom>
          <a:noFill/>
          <a:ln>
            <a:noFill/>
          </a:ln>
        </p:spPr>
      </p:pic>
      <p:sp>
        <p:nvSpPr>
          <p:cNvPr id="282" name="Google Shape;282;p19"/>
          <p:cNvSpPr txBox="1"/>
          <p:nvPr/>
        </p:nvSpPr>
        <p:spPr>
          <a:xfrm>
            <a:off x="5110494" y="1663742"/>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68776C"/>
                </a:solidFill>
                <a:latin typeface="Arial"/>
                <a:ea typeface="Arial"/>
                <a:cs typeface="Arial"/>
                <a:sym typeface="Arial"/>
              </a:rPr>
              <a:t>Desarrollo y patrones de diseño de software</a:t>
            </a:r>
            <a:endParaRPr sz="2400">
              <a:solidFill>
                <a:srgbClr val="68776C"/>
              </a:solidFill>
              <a:latin typeface="Arial"/>
              <a:ea typeface="Arial"/>
              <a:cs typeface="Arial"/>
              <a:sym typeface="Arial"/>
            </a:endParaRPr>
          </a:p>
        </p:txBody>
      </p:sp>
      <p:pic>
        <p:nvPicPr>
          <p:cNvPr id="283" name="Google Shape;283;p19"/>
          <p:cNvPicPr preferRelativeResize="0"/>
          <p:nvPr/>
        </p:nvPicPr>
        <p:blipFill rotWithShape="1">
          <a:blip r:embed="rId4">
            <a:alphaModFix/>
          </a:blip>
          <a:srcRect b="0" l="0" r="0" t="0"/>
          <a:stretch/>
        </p:blipFill>
        <p:spPr>
          <a:xfrm>
            <a:off x="4741817" y="1731733"/>
            <a:ext cx="321338" cy="347507"/>
          </a:xfrm>
          <a:prstGeom prst="rect">
            <a:avLst/>
          </a:prstGeom>
          <a:noFill/>
          <a:ln>
            <a:noFill/>
          </a:ln>
        </p:spPr>
      </p:pic>
      <p:sp>
        <p:nvSpPr>
          <p:cNvPr id="284" name="Google Shape;284;p19"/>
          <p:cNvSpPr/>
          <p:nvPr/>
        </p:nvSpPr>
        <p:spPr>
          <a:xfrm>
            <a:off x="0" y="0"/>
            <a:ext cx="4310743" cy="6858000"/>
          </a:xfrm>
          <a:prstGeom prst="rect">
            <a:avLst/>
          </a:prstGeom>
          <a:solidFill>
            <a:srgbClr val="2780B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 name="Google Shape;285;p19"/>
          <p:cNvSpPr txBox="1"/>
          <p:nvPr/>
        </p:nvSpPr>
        <p:spPr>
          <a:xfrm>
            <a:off x="300446" y="1813556"/>
            <a:ext cx="444137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4000">
                <a:solidFill>
                  <a:schemeClr val="lt1"/>
                </a:solidFill>
                <a:latin typeface="Arial"/>
                <a:ea typeface="Arial"/>
                <a:cs typeface="Arial"/>
                <a:sym typeface="Arial"/>
              </a:rPr>
              <a:t>Temario</a:t>
            </a:r>
            <a:endParaRPr b="1" sz="1800">
              <a:solidFill>
                <a:schemeClr val="lt1"/>
              </a:solidFill>
              <a:latin typeface="Arial"/>
              <a:ea typeface="Arial"/>
              <a:cs typeface="Arial"/>
              <a:sym typeface="Arial"/>
            </a:endParaRPr>
          </a:p>
        </p:txBody>
      </p:sp>
      <p:sp>
        <p:nvSpPr>
          <p:cNvPr id="286" name="Google Shape;286;p19"/>
          <p:cNvSpPr/>
          <p:nvPr/>
        </p:nvSpPr>
        <p:spPr>
          <a:xfrm>
            <a:off x="300446" y="5226440"/>
            <a:ext cx="768486" cy="116731"/>
          </a:xfrm>
          <a:prstGeom prst="rect">
            <a:avLst/>
          </a:prstGeom>
          <a:solidFill>
            <a:srgbClr val="BEB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 name="Google Shape;287;p19"/>
          <p:cNvSpPr txBox="1"/>
          <p:nvPr/>
        </p:nvSpPr>
        <p:spPr>
          <a:xfrm>
            <a:off x="5110494" y="2621631"/>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68776C"/>
                </a:solidFill>
                <a:latin typeface="Arial"/>
                <a:ea typeface="Arial"/>
                <a:cs typeface="Arial"/>
                <a:sym typeface="Arial"/>
              </a:rPr>
              <a:t>Control de versiones con GIT</a:t>
            </a:r>
            <a:endParaRPr sz="2400">
              <a:solidFill>
                <a:srgbClr val="68776C"/>
              </a:solidFill>
              <a:latin typeface="Arial"/>
              <a:ea typeface="Arial"/>
              <a:cs typeface="Arial"/>
              <a:sym typeface="Arial"/>
            </a:endParaRPr>
          </a:p>
        </p:txBody>
      </p:sp>
      <p:pic>
        <p:nvPicPr>
          <p:cNvPr id="288" name="Google Shape;288;p19"/>
          <p:cNvPicPr preferRelativeResize="0"/>
          <p:nvPr/>
        </p:nvPicPr>
        <p:blipFill rotWithShape="1">
          <a:blip r:embed="rId4">
            <a:alphaModFix/>
          </a:blip>
          <a:srcRect b="0" l="0" r="0" t="0"/>
          <a:stretch/>
        </p:blipFill>
        <p:spPr>
          <a:xfrm>
            <a:off x="4741817" y="2678709"/>
            <a:ext cx="321338" cy="347507"/>
          </a:xfrm>
          <a:prstGeom prst="rect">
            <a:avLst/>
          </a:prstGeom>
          <a:noFill/>
          <a:ln>
            <a:noFill/>
          </a:ln>
        </p:spPr>
      </p:pic>
      <p:sp>
        <p:nvSpPr>
          <p:cNvPr id="289" name="Google Shape;289;p19"/>
          <p:cNvSpPr txBox="1"/>
          <p:nvPr/>
        </p:nvSpPr>
        <p:spPr>
          <a:xfrm>
            <a:off x="5110494" y="3594111"/>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68776C"/>
                </a:solidFill>
                <a:latin typeface="Arial"/>
                <a:ea typeface="Arial"/>
                <a:cs typeface="Arial"/>
                <a:sym typeface="Arial"/>
              </a:rPr>
              <a:t>Conceptos básicos de codificación</a:t>
            </a:r>
            <a:endParaRPr sz="2400">
              <a:solidFill>
                <a:srgbClr val="68776C"/>
              </a:solidFill>
              <a:latin typeface="Arial"/>
              <a:ea typeface="Arial"/>
              <a:cs typeface="Arial"/>
              <a:sym typeface="Arial"/>
            </a:endParaRPr>
          </a:p>
        </p:txBody>
      </p:sp>
      <p:pic>
        <p:nvPicPr>
          <p:cNvPr id="290" name="Google Shape;290;p19"/>
          <p:cNvPicPr preferRelativeResize="0"/>
          <p:nvPr/>
        </p:nvPicPr>
        <p:blipFill rotWithShape="1">
          <a:blip r:embed="rId4">
            <a:alphaModFix/>
          </a:blip>
          <a:srcRect b="0" l="0" r="0" t="0"/>
          <a:stretch/>
        </p:blipFill>
        <p:spPr>
          <a:xfrm>
            <a:off x="4741817" y="3651189"/>
            <a:ext cx="321338" cy="347507"/>
          </a:xfrm>
          <a:prstGeom prst="rect">
            <a:avLst/>
          </a:prstGeom>
          <a:noFill/>
          <a:ln>
            <a:noFill/>
          </a:ln>
        </p:spPr>
      </p:pic>
      <p:sp>
        <p:nvSpPr>
          <p:cNvPr id="291" name="Google Shape;291;p19"/>
          <p:cNvSpPr txBox="1"/>
          <p:nvPr/>
        </p:nvSpPr>
        <p:spPr>
          <a:xfrm>
            <a:off x="5110494" y="4547928"/>
            <a:ext cx="6781060" cy="461665"/>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b="1" lang="es-ES" sz="2400">
                <a:solidFill>
                  <a:srgbClr val="2782BB"/>
                </a:solidFill>
                <a:latin typeface="Arial"/>
                <a:ea typeface="Arial"/>
                <a:cs typeface="Arial"/>
                <a:sym typeface="Arial"/>
              </a:rPr>
              <a:t>Formato de los datos</a:t>
            </a:r>
            <a:endParaRPr b="1" sz="2400">
              <a:solidFill>
                <a:srgbClr val="2782BB"/>
              </a:solidFill>
              <a:latin typeface="Arial"/>
              <a:ea typeface="Arial"/>
              <a:cs typeface="Arial"/>
              <a:sym typeface="Arial"/>
            </a:endParaRPr>
          </a:p>
        </p:txBody>
      </p:sp>
      <p:pic>
        <p:nvPicPr>
          <p:cNvPr id="292" name="Google Shape;292;p19"/>
          <p:cNvPicPr preferRelativeResize="0"/>
          <p:nvPr/>
        </p:nvPicPr>
        <p:blipFill rotWithShape="1">
          <a:blip r:embed="rId4">
            <a:alphaModFix/>
          </a:blip>
          <a:srcRect b="0" l="0" r="0" t="0"/>
          <a:stretch/>
        </p:blipFill>
        <p:spPr>
          <a:xfrm>
            <a:off x="4741817" y="4605006"/>
            <a:ext cx="321338" cy="34750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Formato de los datos</a:t>
            </a:r>
            <a:endParaRPr/>
          </a:p>
        </p:txBody>
      </p:sp>
      <p:sp>
        <p:nvSpPr>
          <p:cNvPr id="298" name="Google Shape;298;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313537"/>
              </a:buClr>
              <a:buSzPts val="2800"/>
              <a:buNone/>
            </a:pPr>
            <a:r>
              <a:rPr lang="es-ES">
                <a:solidFill>
                  <a:srgbClr val="313537"/>
                </a:solidFill>
              </a:rPr>
              <a:t>Los </a:t>
            </a:r>
            <a:r>
              <a:rPr b="0" i="0" lang="es-ES">
                <a:solidFill>
                  <a:srgbClr val="313537"/>
                </a:solidFill>
                <a:latin typeface="Arial"/>
                <a:ea typeface="Arial"/>
                <a:cs typeface="Arial"/>
                <a:sym typeface="Arial"/>
              </a:rPr>
              <a:t>formatos más utilizados hoy en día para intercambiar información entre servicios y equipos remotos son XML, JSON y YAML.</a:t>
            </a:r>
            <a:endParaRPr/>
          </a:p>
        </p:txBody>
      </p:sp>
      <p:pic>
        <p:nvPicPr>
          <p:cNvPr id="299" name="Google Shape;299;p20"/>
          <p:cNvPicPr preferRelativeResize="0"/>
          <p:nvPr>
            <p:ph idx="2" type="body"/>
          </p:nvPr>
        </p:nvPicPr>
        <p:blipFill rotWithShape="1">
          <a:blip r:embed="rId3">
            <a:alphaModFix/>
          </a:blip>
          <a:srcRect b="0" l="0" r="0" t="0"/>
          <a:stretch/>
        </p:blipFill>
        <p:spPr>
          <a:xfrm>
            <a:off x="1221617" y="3496923"/>
            <a:ext cx="9596366" cy="255840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Formato de los datos</a:t>
            </a:r>
            <a:endParaRPr/>
          </a:p>
        </p:txBody>
      </p:sp>
      <p:sp>
        <p:nvSpPr>
          <p:cNvPr id="305" name="Google Shape;30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34A6E"/>
              </a:buClr>
              <a:buSzPts val="2800"/>
              <a:buNone/>
            </a:pPr>
            <a:r>
              <a:rPr b="1" lang="es-ES" u="sng"/>
              <a:t>XML</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El lenguaje de marcado extensible (XML) es un derivado del lenguaje de marcado generalizado estructurado (SGML), y también el padre del lenguaje de marcado de hipertexto (HTML).</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XML es una metodología genérica para envolver datos textuales en etiquetas simétricas para indicar la semántica.</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Los nombres de archivo XML normalmente terminan en ".xml".</a:t>
            </a:r>
            <a:endParaRPr sz="2400">
              <a:solidFill>
                <a:srgbClr val="313537"/>
              </a:solidFill>
            </a:endParaRPr>
          </a:p>
        </p:txBody>
      </p:sp>
      <p:pic>
        <p:nvPicPr>
          <p:cNvPr id="306" name="Google Shape;306;p21"/>
          <p:cNvPicPr preferRelativeResize="0"/>
          <p:nvPr/>
        </p:nvPicPr>
        <p:blipFill rotWithShape="1">
          <a:blip r:embed="rId3">
            <a:alphaModFix/>
          </a:blip>
          <a:srcRect b="0" l="0" r="0" t="0"/>
          <a:stretch/>
        </p:blipFill>
        <p:spPr>
          <a:xfrm>
            <a:off x="6212114" y="1825625"/>
            <a:ext cx="5558972" cy="40884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Formato de los datos</a:t>
            </a:r>
            <a:endParaRPr/>
          </a:p>
        </p:txBody>
      </p:sp>
      <p:sp>
        <p:nvSpPr>
          <p:cNvPr id="312" name="Google Shape;312;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34A6E"/>
              </a:buClr>
              <a:buSzPts val="2800"/>
              <a:buNone/>
            </a:pPr>
            <a:r>
              <a:rPr b="1" lang="es-ES" u="sng"/>
              <a:t>JSON</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JSON, o Notación de objetos de JavaScript, es un formato de datos derivado de la forma en que se escriben los literales de objetos complejos en JavaScript (que a su vez es similar a cómo se escriben los literales de objetos en Python).</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Los nombres de archivo JSON normalmente terminan en ".json".</a:t>
            </a:r>
            <a:endParaRPr/>
          </a:p>
        </p:txBody>
      </p:sp>
      <p:pic>
        <p:nvPicPr>
          <p:cNvPr id="313" name="Google Shape;313;p22"/>
          <p:cNvPicPr preferRelativeResize="0"/>
          <p:nvPr/>
        </p:nvPicPr>
        <p:blipFill rotWithShape="1">
          <a:blip r:embed="rId3">
            <a:alphaModFix/>
          </a:blip>
          <a:srcRect b="0" l="0" r="0" t="0"/>
          <a:stretch/>
        </p:blipFill>
        <p:spPr>
          <a:xfrm>
            <a:off x="6906988" y="2071756"/>
            <a:ext cx="4446812" cy="409432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82BB"/>
              </a:buClr>
              <a:buSzPts val="4400"/>
              <a:buFont typeface="Arial"/>
              <a:buNone/>
            </a:pPr>
            <a:r>
              <a:rPr lang="es-ES"/>
              <a:t>Formato de los datos</a:t>
            </a:r>
            <a:endParaRPr/>
          </a:p>
        </p:txBody>
      </p:sp>
      <p:sp>
        <p:nvSpPr>
          <p:cNvPr id="319" name="Google Shape;319;p23"/>
          <p:cNvSpPr txBox="1"/>
          <p:nvPr>
            <p:ph idx="1" type="body"/>
          </p:nvPr>
        </p:nvSpPr>
        <p:spPr>
          <a:xfrm>
            <a:off x="838199" y="1825625"/>
            <a:ext cx="6244771"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34A6E"/>
              </a:buClr>
              <a:buSzPts val="2800"/>
              <a:buNone/>
            </a:pPr>
            <a:r>
              <a:rPr b="1" lang="es-ES" u="sng"/>
              <a:t>YAML</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Acrónimo de “YAML Ain't Markup Language”.</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Superconjunto de JSON diseñado para una legibilidad humana aún más fácil.</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Se está volviendo más común como formato para archivos de configuración y, en particular, para escribir plantillas de automatización declarativas para herramientas como Ansible.</a:t>
            </a:r>
            <a:endParaRPr/>
          </a:p>
          <a:p>
            <a:pPr indent="-228600" lvl="0" marL="228600" rtl="0" algn="l">
              <a:lnSpc>
                <a:spcPct val="90000"/>
              </a:lnSpc>
              <a:spcBef>
                <a:spcPts val="1000"/>
              </a:spcBef>
              <a:spcAft>
                <a:spcPts val="0"/>
              </a:spcAft>
              <a:buClr>
                <a:srgbClr val="313537"/>
              </a:buClr>
              <a:buSzPts val="2400"/>
              <a:buChar char="•"/>
            </a:pPr>
            <a:r>
              <a:rPr lang="es-ES" sz="2400">
                <a:solidFill>
                  <a:srgbClr val="313537"/>
                </a:solidFill>
              </a:rPr>
              <a:t>Los nombres de archivo YAML normalmente terminan en ".yaml“ o “.yml”.</a:t>
            </a:r>
            <a:endParaRPr/>
          </a:p>
          <a:p>
            <a:pPr indent="-50800" lvl="0" marL="228600" rtl="0" algn="l">
              <a:lnSpc>
                <a:spcPct val="90000"/>
              </a:lnSpc>
              <a:spcBef>
                <a:spcPts val="1000"/>
              </a:spcBef>
              <a:spcAft>
                <a:spcPts val="0"/>
              </a:spcAft>
              <a:buClr>
                <a:srgbClr val="134A6E"/>
              </a:buClr>
              <a:buSzPts val="2800"/>
              <a:buNone/>
            </a:pPr>
            <a:r>
              <a:t/>
            </a:r>
            <a:endParaRPr/>
          </a:p>
        </p:txBody>
      </p:sp>
      <p:pic>
        <p:nvPicPr>
          <p:cNvPr id="320" name="Google Shape;320;p23"/>
          <p:cNvPicPr preferRelativeResize="0"/>
          <p:nvPr/>
        </p:nvPicPr>
        <p:blipFill rotWithShape="1">
          <a:blip r:embed="rId3">
            <a:alphaModFix/>
          </a:blip>
          <a:srcRect b="0" l="0" r="0" t="0"/>
          <a:stretch/>
        </p:blipFill>
        <p:spPr>
          <a:xfrm>
            <a:off x="8288791" y="523283"/>
            <a:ext cx="3554866" cy="565368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descr="A blue background with a map of the world&#10;&#10;Description automatically generated with low confidence" id="325" name="Google Shape;325;p24"/>
          <p:cNvPicPr preferRelativeResize="0"/>
          <p:nvPr/>
        </p:nvPicPr>
        <p:blipFill rotWithShape="1">
          <a:blip r:embed="rId3">
            <a:alphaModFix/>
          </a:blip>
          <a:srcRect b="0" l="0" r="0" t="0"/>
          <a:stretch/>
        </p:blipFill>
        <p:spPr>
          <a:xfrm>
            <a:off x="-21982" y="0"/>
            <a:ext cx="12235964" cy="6858000"/>
          </a:xfrm>
          <a:prstGeom prst="rect">
            <a:avLst/>
          </a:prstGeom>
          <a:noFill/>
          <a:ln>
            <a:noFill/>
          </a:ln>
        </p:spPr>
      </p:pic>
      <p:pic>
        <p:nvPicPr>
          <p:cNvPr id="326" name="Google Shape;326;p24"/>
          <p:cNvPicPr preferRelativeResize="0"/>
          <p:nvPr/>
        </p:nvPicPr>
        <p:blipFill rotWithShape="1">
          <a:blip r:embed="rId4">
            <a:alphaModFix/>
          </a:blip>
          <a:srcRect b="0" l="0" r="0" t="0"/>
          <a:stretch/>
        </p:blipFill>
        <p:spPr>
          <a:xfrm>
            <a:off x="9386250" y="5632315"/>
            <a:ext cx="2093515" cy="751519"/>
          </a:xfrm>
          <a:prstGeom prst="rect">
            <a:avLst/>
          </a:prstGeom>
          <a:noFill/>
          <a:ln>
            <a:noFill/>
          </a:ln>
        </p:spPr>
      </p:pic>
      <p:sp>
        <p:nvSpPr>
          <p:cNvPr id="327" name="Google Shape;327;p24"/>
          <p:cNvSpPr txBox="1"/>
          <p:nvPr/>
        </p:nvSpPr>
        <p:spPr>
          <a:xfrm>
            <a:off x="2447616" y="2706448"/>
            <a:ext cx="7289397" cy="91704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alibri"/>
              <a:buNone/>
            </a:pPr>
            <a:r>
              <a:rPr b="1" i="0" lang="es-ES" sz="4800" u="none" cap="none" strike="noStrike">
                <a:solidFill>
                  <a:schemeClr val="lt1"/>
                </a:solidFill>
                <a:latin typeface="Arial"/>
                <a:ea typeface="Arial"/>
                <a:cs typeface="Arial"/>
                <a:sym typeface="Arial"/>
              </a:rPr>
              <a:t>¿Consultas?</a:t>
            </a:r>
            <a:endParaRPr b="1" i="0" sz="4800" u="none" cap="none" strike="noStrike">
              <a:solidFill>
                <a:schemeClr val="lt1"/>
              </a:solidFill>
              <a:latin typeface="Arial"/>
              <a:ea typeface="Arial"/>
              <a:cs typeface="Arial"/>
              <a:sym typeface="Arial"/>
            </a:endParaRPr>
          </a:p>
        </p:txBody>
      </p:sp>
      <p:sp>
        <p:nvSpPr>
          <p:cNvPr id="328" name="Google Shape;328;p24"/>
          <p:cNvSpPr/>
          <p:nvPr/>
        </p:nvSpPr>
        <p:spPr>
          <a:xfrm>
            <a:off x="5708071" y="3511007"/>
            <a:ext cx="768486" cy="116731"/>
          </a:xfrm>
          <a:prstGeom prst="rect">
            <a:avLst/>
          </a:prstGeom>
          <a:solidFill>
            <a:srgbClr val="BEB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id="333" name="Google Shape;333;p25"/>
          <p:cNvPicPr preferRelativeResize="0"/>
          <p:nvPr/>
        </p:nvPicPr>
        <p:blipFill rotWithShape="1">
          <a:blip r:embed="rId3">
            <a:alphaModFix/>
          </a:blip>
          <a:srcRect b="0" l="0" r="0" t="0"/>
          <a:stretch/>
        </p:blipFill>
        <p:spPr>
          <a:xfrm>
            <a:off x="4806656" y="1295474"/>
            <a:ext cx="471214" cy="592558"/>
          </a:xfrm>
          <a:prstGeom prst="rect">
            <a:avLst/>
          </a:prstGeom>
          <a:noFill/>
          <a:ln>
            <a:noFill/>
          </a:ln>
        </p:spPr>
      </p:pic>
      <p:sp>
        <p:nvSpPr>
          <p:cNvPr id="334" name="Google Shape;334;p25"/>
          <p:cNvSpPr txBox="1"/>
          <p:nvPr/>
        </p:nvSpPr>
        <p:spPr>
          <a:xfrm>
            <a:off x="5314264" y="1277744"/>
            <a:ext cx="6418217" cy="830997"/>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313537"/>
                </a:solidFill>
                <a:latin typeface="Arial"/>
                <a:ea typeface="Arial"/>
                <a:cs typeface="Arial"/>
                <a:sym typeface="Arial"/>
              </a:rPr>
              <a:t>VS Code como herramienta de edición de software y su integración con GIT y GitHub.</a:t>
            </a:r>
            <a:endParaRPr/>
          </a:p>
        </p:txBody>
      </p:sp>
      <p:pic>
        <p:nvPicPr>
          <p:cNvPr id="335" name="Google Shape;335;p25"/>
          <p:cNvPicPr preferRelativeResize="0"/>
          <p:nvPr/>
        </p:nvPicPr>
        <p:blipFill rotWithShape="1">
          <a:blip r:embed="rId4">
            <a:alphaModFix/>
          </a:blip>
          <a:srcRect b="12086" l="11166" r="12353" t="19373"/>
          <a:stretch/>
        </p:blipFill>
        <p:spPr>
          <a:xfrm>
            <a:off x="9386251" y="5632315"/>
            <a:ext cx="2093514" cy="797146"/>
          </a:xfrm>
          <a:prstGeom prst="rect">
            <a:avLst/>
          </a:prstGeom>
          <a:noFill/>
          <a:ln>
            <a:noFill/>
          </a:ln>
        </p:spPr>
      </p:pic>
      <p:sp>
        <p:nvSpPr>
          <p:cNvPr id="336" name="Google Shape;336;p25"/>
          <p:cNvSpPr/>
          <p:nvPr/>
        </p:nvSpPr>
        <p:spPr>
          <a:xfrm>
            <a:off x="0" y="0"/>
            <a:ext cx="4310743" cy="6858000"/>
          </a:xfrm>
          <a:prstGeom prst="rect">
            <a:avLst/>
          </a:prstGeom>
          <a:solidFill>
            <a:srgbClr val="134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7" name="Google Shape;337;p25"/>
          <p:cNvSpPr txBox="1"/>
          <p:nvPr/>
        </p:nvSpPr>
        <p:spPr>
          <a:xfrm>
            <a:off x="300446" y="1813556"/>
            <a:ext cx="444137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4000">
                <a:solidFill>
                  <a:schemeClr val="lt1"/>
                </a:solidFill>
                <a:latin typeface="Arial"/>
                <a:ea typeface="Arial"/>
                <a:cs typeface="Arial"/>
                <a:sym typeface="Arial"/>
              </a:rPr>
              <a:t>Demo</a:t>
            </a:r>
            <a:endParaRPr b="1" sz="1800">
              <a:solidFill>
                <a:schemeClr val="lt1"/>
              </a:solidFill>
              <a:latin typeface="Arial"/>
              <a:ea typeface="Arial"/>
              <a:cs typeface="Arial"/>
              <a:sym typeface="Arial"/>
            </a:endParaRPr>
          </a:p>
        </p:txBody>
      </p:sp>
      <p:sp>
        <p:nvSpPr>
          <p:cNvPr id="338" name="Google Shape;338;p25"/>
          <p:cNvSpPr/>
          <p:nvPr/>
        </p:nvSpPr>
        <p:spPr>
          <a:xfrm>
            <a:off x="300446" y="5226440"/>
            <a:ext cx="768486" cy="116731"/>
          </a:xfrm>
          <a:prstGeom prst="rect">
            <a:avLst/>
          </a:prstGeom>
          <a:solidFill>
            <a:srgbClr val="BEB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9" name="Google Shape;339;p25"/>
          <p:cNvSpPr txBox="1"/>
          <p:nvPr/>
        </p:nvSpPr>
        <p:spPr>
          <a:xfrm>
            <a:off x="5314264" y="2433475"/>
            <a:ext cx="6418217" cy="830997"/>
          </a:xfrm>
          <a:prstGeom prst="rect">
            <a:avLst/>
          </a:prstGeom>
          <a:noFill/>
          <a:ln>
            <a:noFill/>
          </a:ln>
        </p:spPr>
        <p:txBody>
          <a:bodyPr anchorCtr="0" anchor="t" bIns="45700" lIns="91425" spcFirstLastPara="1" rIns="91425" wrap="square" tIns="45700">
            <a:spAutoFit/>
          </a:bodyPr>
          <a:lstStyle/>
          <a:p>
            <a:pPr indent="0" lvl="0" marL="158750" marR="0" rtl="0" algn="l">
              <a:spcBef>
                <a:spcPts val="0"/>
              </a:spcBef>
              <a:spcAft>
                <a:spcPts val="0"/>
              </a:spcAft>
              <a:buNone/>
            </a:pPr>
            <a:r>
              <a:rPr lang="es-ES" sz="2400">
                <a:solidFill>
                  <a:srgbClr val="313537"/>
                </a:solidFill>
                <a:latin typeface="Arial"/>
                <a:ea typeface="Arial"/>
                <a:cs typeface="Arial"/>
                <a:sym typeface="Arial"/>
              </a:rPr>
              <a:t>Script de Python para leer las interfaces de un lote de routers.</a:t>
            </a:r>
            <a:endParaRPr sz="2400">
              <a:solidFill>
                <a:srgbClr val="313537"/>
              </a:solidFill>
              <a:latin typeface="Arial"/>
              <a:ea typeface="Arial"/>
              <a:cs typeface="Arial"/>
              <a:sym typeface="Arial"/>
            </a:endParaRPr>
          </a:p>
        </p:txBody>
      </p:sp>
      <p:pic>
        <p:nvPicPr>
          <p:cNvPr id="340" name="Google Shape;340;p25"/>
          <p:cNvPicPr preferRelativeResize="0"/>
          <p:nvPr/>
        </p:nvPicPr>
        <p:blipFill rotWithShape="1">
          <a:blip r:embed="rId5">
            <a:alphaModFix/>
          </a:blip>
          <a:srcRect b="0" l="0" r="0" t="0"/>
          <a:stretch/>
        </p:blipFill>
        <p:spPr>
          <a:xfrm>
            <a:off x="4807543" y="2433475"/>
            <a:ext cx="489602" cy="61568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6"/>
          <p:cNvSpPr txBox="1"/>
          <p:nvPr>
            <p:ph type="title"/>
          </p:nvPr>
        </p:nvSpPr>
        <p:spPr>
          <a:xfrm>
            <a:off x="2407920" y="2714278"/>
            <a:ext cx="6984274" cy="1612309"/>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Arial"/>
              <a:buNone/>
            </a:pPr>
            <a:r>
              <a:rPr b="1" lang="es-ES" sz="5400">
                <a:solidFill>
                  <a:schemeClr val="lt1"/>
                </a:solidFill>
                <a:latin typeface="Arial"/>
                <a:ea typeface="Arial"/>
                <a:cs typeface="Arial"/>
                <a:sym typeface="Arial"/>
              </a:rPr>
              <a:t>¡GRACIAS POR PARTICIPAR!</a:t>
            </a:r>
            <a:br>
              <a:rPr b="1" lang="es-ES" sz="5400">
                <a:solidFill>
                  <a:schemeClr val="lt1"/>
                </a:solidFill>
                <a:latin typeface="Arial"/>
                <a:ea typeface="Arial"/>
                <a:cs typeface="Arial"/>
                <a:sym typeface="Arial"/>
              </a:rPr>
            </a:br>
            <a:endParaRPr b="1" sz="2400">
              <a:solidFill>
                <a:schemeClr val="lt1"/>
              </a:solidFill>
              <a:latin typeface="Arial"/>
              <a:ea typeface="Arial"/>
              <a:cs typeface="Arial"/>
              <a:sym typeface="Arial"/>
            </a:endParaRPr>
          </a:p>
        </p:txBody>
      </p:sp>
      <p:sp>
        <p:nvSpPr>
          <p:cNvPr id="346" name="Google Shape;346;p26"/>
          <p:cNvSpPr/>
          <p:nvPr/>
        </p:nvSpPr>
        <p:spPr>
          <a:xfrm>
            <a:off x="0" y="0"/>
            <a:ext cx="12192000" cy="6858000"/>
          </a:xfrm>
          <a:prstGeom prst="rect">
            <a:avLst/>
          </a:prstGeom>
          <a:solidFill>
            <a:srgbClr val="2780B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7" name="Google Shape;347;p26"/>
          <p:cNvSpPr txBox="1"/>
          <p:nvPr/>
        </p:nvSpPr>
        <p:spPr>
          <a:xfrm>
            <a:off x="3187838" y="2517113"/>
            <a:ext cx="5816322" cy="1325563"/>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alibri"/>
              <a:buNone/>
            </a:pPr>
            <a:r>
              <a:rPr b="1" i="0" lang="es-ES" sz="4400" u="none" cap="none" strike="noStrike">
                <a:solidFill>
                  <a:schemeClr val="lt1"/>
                </a:solidFill>
                <a:latin typeface="Arial"/>
                <a:ea typeface="Arial"/>
                <a:cs typeface="Arial"/>
                <a:sym typeface="Arial"/>
              </a:rPr>
              <a:t>¡MUCHAS GRACIAS!</a:t>
            </a:r>
            <a:endParaRPr/>
          </a:p>
        </p:txBody>
      </p:sp>
      <p:pic>
        <p:nvPicPr>
          <p:cNvPr id="348" name="Google Shape;348;p26"/>
          <p:cNvPicPr preferRelativeResize="0"/>
          <p:nvPr/>
        </p:nvPicPr>
        <p:blipFill rotWithShape="1">
          <a:blip r:embed="rId3">
            <a:alphaModFix/>
          </a:blip>
          <a:srcRect b="0" l="0" r="0" t="0"/>
          <a:stretch/>
        </p:blipFill>
        <p:spPr>
          <a:xfrm>
            <a:off x="5226305" y="5540753"/>
            <a:ext cx="1739391" cy="624398"/>
          </a:xfrm>
          <a:prstGeom prst="rect">
            <a:avLst/>
          </a:prstGeom>
          <a:noFill/>
          <a:ln>
            <a:noFill/>
          </a:ln>
        </p:spPr>
      </p:pic>
      <p:sp>
        <p:nvSpPr>
          <p:cNvPr id="349" name="Google Shape;349;p26"/>
          <p:cNvSpPr/>
          <p:nvPr/>
        </p:nvSpPr>
        <p:spPr>
          <a:xfrm>
            <a:off x="5708072" y="3916675"/>
            <a:ext cx="768486" cy="116731"/>
          </a:xfrm>
          <a:prstGeom prst="rect">
            <a:avLst/>
          </a:prstGeom>
          <a:solidFill>
            <a:srgbClr val="BEBE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0" name="Google Shape;350;p26"/>
          <p:cNvSpPr txBox="1"/>
          <p:nvPr/>
        </p:nvSpPr>
        <p:spPr>
          <a:xfrm>
            <a:off x="2447616" y="2706448"/>
            <a:ext cx="7289397" cy="91704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alibri"/>
              <a:buNone/>
            </a:pPr>
            <a:r>
              <a:t/>
            </a:r>
            <a:endParaRPr b="1" i="0" sz="2400" u="none" cap="none" strike="noStrike">
              <a:solidFill>
                <a:schemeClr val="lt1"/>
              </a:solidFill>
              <a:latin typeface="Arial"/>
              <a:ea typeface="Arial"/>
              <a:cs typeface="Arial"/>
              <a:sym typeface="Arial"/>
            </a:endParaRPr>
          </a:p>
        </p:txBody>
      </p:sp>
      <p:sp>
        <p:nvSpPr>
          <p:cNvPr id="351" name="Google Shape;351;p26"/>
          <p:cNvSpPr/>
          <p:nvPr/>
        </p:nvSpPr>
        <p:spPr>
          <a:xfrm>
            <a:off x="0" y="6713621"/>
            <a:ext cx="12192000" cy="144379"/>
          </a:xfrm>
          <a:prstGeom prst="rect">
            <a:avLst/>
          </a:prstGeom>
          <a:solidFill>
            <a:srgbClr val="134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2023-06-26T11:55:48Z</dcterms:created>
  <dc:creator>Marcos Schonfeld</dc:creator>
</cp:coreProperties>
</file>